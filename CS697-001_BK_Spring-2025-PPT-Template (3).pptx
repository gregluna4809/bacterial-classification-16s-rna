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8" r:id="rId1"/>
  </p:sldMasterIdLst>
  <p:notesMasterIdLst>
    <p:notesMasterId r:id="rId14"/>
  </p:notesMasterIdLst>
  <p:sldIdLst>
    <p:sldId id="258" r:id="rId2"/>
    <p:sldId id="261" r:id="rId3"/>
    <p:sldId id="273" r:id="rId4"/>
    <p:sldId id="272" r:id="rId5"/>
    <p:sldId id="262" r:id="rId6"/>
    <p:sldId id="270" r:id="rId7"/>
    <p:sldId id="264" r:id="rId8"/>
    <p:sldId id="265" r:id="rId9"/>
    <p:sldId id="260" r:id="rId10"/>
    <p:sldId id="266" r:id="rId11"/>
    <p:sldId id="271" r:id="rId12"/>
    <p:sldId id="274" r:id="rId13"/>
  </p:sldIdLst>
  <p:sldSz cx="9144000" cy="6858000" type="screen4x3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72C"/>
    <a:srgbClr val="69B3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3EC79D-1757-4DAC-B7F0-6FD7B2F9C327}" v="4" dt="2025-04-04T01:30:33.2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132"/>
    <p:restoredTop sz="94721"/>
  </p:normalViewPr>
  <p:slideViewPr>
    <p:cSldViewPr snapToGrid="0" snapToObjects="1">
      <p:cViewPr varScale="1">
        <p:scale>
          <a:sx n="100" d="100"/>
          <a:sy n="100" d="100"/>
        </p:scale>
        <p:origin x="254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54F5539-A4B2-4FEE-A14D-FA1C40DA1A04}" type="doc">
      <dgm:prSet loTypeId="urn:microsoft.com/office/officeart/2016/7/layout/VerticalDownArrow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B453CB0-161B-4585-9690-EF5C96AC0561}">
      <dgm:prSet/>
      <dgm:spPr/>
      <dgm:t>
        <a:bodyPr/>
        <a:lstStyle/>
        <a:p>
          <a:r>
            <a:rPr lang="en-US"/>
            <a:t>Step 1</a:t>
          </a:r>
        </a:p>
      </dgm:t>
    </dgm:pt>
    <dgm:pt modelId="{FA693E23-FB71-4DFC-B4CC-0E8A44700A6B}" type="parTrans" cxnId="{F94392AE-4D3C-4412-B053-476917C9251E}">
      <dgm:prSet/>
      <dgm:spPr/>
      <dgm:t>
        <a:bodyPr/>
        <a:lstStyle/>
        <a:p>
          <a:endParaRPr lang="en-US"/>
        </a:p>
      </dgm:t>
    </dgm:pt>
    <dgm:pt modelId="{57C530ED-327E-4F53-9E8B-4490FF5CD35C}" type="sibTrans" cxnId="{F94392AE-4D3C-4412-B053-476917C9251E}">
      <dgm:prSet/>
      <dgm:spPr/>
      <dgm:t>
        <a:bodyPr/>
        <a:lstStyle/>
        <a:p>
          <a:endParaRPr lang="en-US"/>
        </a:p>
      </dgm:t>
    </dgm:pt>
    <dgm:pt modelId="{87A60A5B-482C-4AD5-A6E5-D153689F4441}">
      <dgm:prSet/>
      <dgm:spPr/>
      <dgm:t>
        <a:bodyPr/>
        <a:lstStyle/>
        <a:p>
          <a:endParaRPr lang="en-US" dirty="0"/>
        </a:p>
      </dgm:t>
    </dgm:pt>
    <dgm:pt modelId="{FF7B3691-CFFD-4F2B-89CB-CDC6A42A9117}" type="parTrans" cxnId="{48EA755B-F6D2-4E93-9AD7-44D32C32175B}">
      <dgm:prSet/>
      <dgm:spPr/>
      <dgm:t>
        <a:bodyPr/>
        <a:lstStyle/>
        <a:p>
          <a:endParaRPr lang="en-US"/>
        </a:p>
      </dgm:t>
    </dgm:pt>
    <dgm:pt modelId="{4CF983F8-A278-40BD-BC0D-C70610B1D870}" type="sibTrans" cxnId="{48EA755B-F6D2-4E93-9AD7-44D32C32175B}">
      <dgm:prSet/>
      <dgm:spPr/>
      <dgm:t>
        <a:bodyPr/>
        <a:lstStyle/>
        <a:p>
          <a:endParaRPr lang="en-US"/>
        </a:p>
      </dgm:t>
    </dgm:pt>
    <dgm:pt modelId="{D610ED89-638F-4716-BD0A-DF71726D5551}">
      <dgm:prSet/>
      <dgm:spPr/>
      <dgm:t>
        <a:bodyPr/>
        <a:lstStyle/>
        <a:p>
          <a:r>
            <a:rPr lang="en-US"/>
            <a:t>Step 2</a:t>
          </a:r>
        </a:p>
      </dgm:t>
    </dgm:pt>
    <dgm:pt modelId="{7FB1D790-10EA-4363-A918-FF0FD601558C}" type="parTrans" cxnId="{39B27E9D-4C8B-4AF5-A464-6508351846F1}">
      <dgm:prSet/>
      <dgm:spPr/>
      <dgm:t>
        <a:bodyPr/>
        <a:lstStyle/>
        <a:p>
          <a:endParaRPr lang="en-US"/>
        </a:p>
      </dgm:t>
    </dgm:pt>
    <dgm:pt modelId="{1D5951E0-348B-41B9-B98B-393B87F2D50A}" type="sibTrans" cxnId="{39B27E9D-4C8B-4AF5-A464-6508351846F1}">
      <dgm:prSet/>
      <dgm:spPr/>
      <dgm:t>
        <a:bodyPr/>
        <a:lstStyle/>
        <a:p>
          <a:endParaRPr lang="en-US"/>
        </a:p>
      </dgm:t>
    </dgm:pt>
    <dgm:pt modelId="{0D1E1E27-82CA-41D5-9B41-4CE86FAC852E}">
      <dgm:prSet/>
      <dgm:spPr/>
      <dgm:t>
        <a:bodyPr/>
        <a:lstStyle/>
        <a:p>
          <a:endParaRPr lang="en-US" dirty="0"/>
        </a:p>
      </dgm:t>
    </dgm:pt>
    <dgm:pt modelId="{8D890A82-9841-4427-BAD8-BB35D5CF0EA5}" type="parTrans" cxnId="{44421614-120A-4780-952D-54497DBB42ED}">
      <dgm:prSet/>
      <dgm:spPr/>
      <dgm:t>
        <a:bodyPr/>
        <a:lstStyle/>
        <a:p>
          <a:endParaRPr lang="en-US"/>
        </a:p>
      </dgm:t>
    </dgm:pt>
    <dgm:pt modelId="{08AB264C-69F7-4285-9E14-E43C11385752}" type="sibTrans" cxnId="{44421614-120A-4780-952D-54497DBB42ED}">
      <dgm:prSet/>
      <dgm:spPr/>
      <dgm:t>
        <a:bodyPr/>
        <a:lstStyle/>
        <a:p>
          <a:endParaRPr lang="en-US"/>
        </a:p>
      </dgm:t>
    </dgm:pt>
    <dgm:pt modelId="{CF4DC95C-4970-42B3-A322-496294BAE48D}">
      <dgm:prSet/>
      <dgm:spPr/>
      <dgm:t>
        <a:bodyPr/>
        <a:lstStyle/>
        <a:p>
          <a:r>
            <a:rPr lang="en-US"/>
            <a:t>Step 3</a:t>
          </a:r>
        </a:p>
      </dgm:t>
    </dgm:pt>
    <dgm:pt modelId="{16B00682-E294-46FB-B3F9-BC111E4135BC}" type="parTrans" cxnId="{61A13AEC-E7F6-4371-9B3C-D229F1D6B5C5}">
      <dgm:prSet/>
      <dgm:spPr/>
      <dgm:t>
        <a:bodyPr/>
        <a:lstStyle/>
        <a:p>
          <a:endParaRPr lang="en-US"/>
        </a:p>
      </dgm:t>
    </dgm:pt>
    <dgm:pt modelId="{ABFACD7A-CFAF-4862-BB02-AC2A480CB979}" type="sibTrans" cxnId="{61A13AEC-E7F6-4371-9B3C-D229F1D6B5C5}">
      <dgm:prSet/>
      <dgm:spPr/>
      <dgm:t>
        <a:bodyPr/>
        <a:lstStyle/>
        <a:p>
          <a:endParaRPr lang="en-US"/>
        </a:p>
      </dgm:t>
    </dgm:pt>
    <dgm:pt modelId="{FF331CDF-855B-4173-9A70-BF7C7C7A45AA}">
      <dgm:prSet/>
      <dgm:spPr/>
      <dgm:t>
        <a:bodyPr/>
        <a:lstStyle/>
        <a:p>
          <a:endParaRPr lang="en-US" dirty="0"/>
        </a:p>
      </dgm:t>
    </dgm:pt>
    <dgm:pt modelId="{0D12DB5C-BA05-47E4-B00C-F945B57C60F8}" type="parTrans" cxnId="{DB133841-4C22-43B9-9C8F-B0B0F1022A51}">
      <dgm:prSet/>
      <dgm:spPr/>
      <dgm:t>
        <a:bodyPr/>
        <a:lstStyle/>
        <a:p>
          <a:endParaRPr lang="en-US"/>
        </a:p>
      </dgm:t>
    </dgm:pt>
    <dgm:pt modelId="{B9F51368-D885-4CD4-9A93-689146EFA290}" type="sibTrans" cxnId="{DB133841-4C22-43B9-9C8F-B0B0F1022A51}">
      <dgm:prSet/>
      <dgm:spPr/>
      <dgm:t>
        <a:bodyPr/>
        <a:lstStyle/>
        <a:p>
          <a:endParaRPr lang="en-US"/>
        </a:p>
      </dgm:t>
    </dgm:pt>
    <dgm:pt modelId="{D032B980-8EA0-45C4-94CD-11681523ED9B}">
      <dgm:prSet/>
      <dgm:spPr/>
      <dgm:t>
        <a:bodyPr/>
        <a:lstStyle/>
        <a:p>
          <a:r>
            <a:rPr lang="en-US"/>
            <a:t>Step 4</a:t>
          </a:r>
        </a:p>
      </dgm:t>
    </dgm:pt>
    <dgm:pt modelId="{01EC26F4-0092-474A-A7DB-3061A1C71497}" type="parTrans" cxnId="{E844F8B4-2E87-409D-8D59-EF8A996CD68E}">
      <dgm:prSet/>
      <dgm:spPr/>
      <dgm:t>
        <a:bodyPr/>
        <a:lstStyle/>
        <a:p>
          <a:endParaRPr lang="en-US"/>
        </a:p>
      </dgm:t>
    </dgm:pt>
    <dgm:pt modelId="{148346F7-A47A-48D9-9326-7C1CBF78CEE7}" type="sibTrans" cxnId="{E844F8B4-2E87-409D-8D59-EF8A996CD68E}">
      <dgm:prSet/>
      <dgm:spPr/>
      <dgm:t>
        <a:bodyPr/>
        <a:lstStyle/>
        <a:p>
          <a:endParaRPr lang="en-US"/>
        </a:p>
      </dgm:t>
    </dgm:pt>
    <dgm:pt modelId="{A4127645-66A7-4D14-A962-F106C8024E5E}">
      <dgm:prSet/>
      <dgm:spPr/>
      <dgm:t>
        <a:bodyPr/>
        <a:lstStyle/>
        <a:p>
          <a:endParaRPr lang="en-US" dirty="0"/>
        </a:p>
      </dgm:t>
    </dgm:pt>
    <dgm:pt modelId="{1425AA94-0E14-4E88-859D-335681E52552}" type="parTrans" cxnId="{6DA8AE73-FEB7-45F1-BEA4-9095738EF64A}">
      <dgm:prSet/>
      <dgm:spPr/>
      <dgm:t>
        <a:bodyPr/>
        <a:lstStyle/>
        <a:p>
          <a:endParaRPr lang="en-US"/>
        </a:p>
      </dgm:t>
    </dgm:pt>
    <dgm:pt modelId="{01DDBEC6-EBD4-467B-8EDC-BB1B59B8ECD1}" type="sibTrans" cxnId="{6DA8AE73-FEB7-45F1-BEA4-9095738EF64A}">
      <dgm:prSet/>
      <dgm:spPr/>
      <dgm:t>
        <a:bodyPr/>
        <a:lstStyle/>
        <a:p>
          <a:endParaRPr lang="en-US"/>
        </a:p>
      </dgm:t>
    </dgm:pt>
    <dgm:pt modelId="{1DFC9E3C-0C21-428E-8DDB-4DBBE100A96B}">
      <dgm:prSet/>
      <dgm:spPr/>
      <dgm:t>
        <a:bodyPr/>
        <a:lstStyle/>
        <a:p>
          <a:r>
            <a:rPr lang="en-US"/>
            <a:t>Step 5</a:t>
          </a:r>
        </a:p>
      </dgm:t>
    </dgm:pt>
    <dgm:pt modelId="{E528EC6B-C75B-47B1-B637-B54FB2837A10}" type="parTrans" cxnId="{0C9439E6-59F5-450D-9939-6DD9FA275CA5}">
      <dgm:prSet/>
      <dgm:spPr/>
      <dgm:t>
        <a:bodyPr/>
        <a:lstStyle/>
        <a:p>
          <a:endParaRPr lang="en-US"/>
        </a:p>
      </dgm:t>
    </dgm:pt>
    <dgm:pt modelId="{CB477C9B-DC8B-4FC3-9139-A0E2C70D9711}" type="sibTrans" cxnId="{0C9439E6-59F5-450D-9939-6DD9FA275CA5}">
      <dgm:prSet/>
      <dgm:spPr/>
      <dgm:t>
        <a:bodyPr/>
        <a:lstStyle/>
        <a:p>
          <a:endParaRPr lang="en-US"/>
        </a:p>
      </dgm:t>
    </dgm:pt>
    <dgm:pt modelId="{8528CF68-4B35-4D8F-9A63-AA61D6100817}">
      <dgm:prSet/>
      <dgm:spPr/>
      <dgm:t>
        <a:bodyPr/>
        <a:lstStyle/>
        <a:p>
          <a:endParaRPr lang="en-US" dirty="0"/>
        </a:p>
      </dgm:t>
    </dgm:pt>
    <dgm:pt modelId="{B78FD11E-EE0C-4F52-8D05-B5BECE946536}" type="parTrans" cxnId="{DB60F469-EF34-4F2D-8DEF-C25D2B99700B}">
      <dgm:prSet/>
      <dgm:spPr/>
      <dgm:t>
        <a:bodyPr/>
        <a:lstStyle/>
        <a:p>
          <a:endParaRPr lang="en-US"/>
        </a:p>
      </dgm:t>
    </dgm:pt>
    <dgm:pt modelId="{2B400DD6-1458-4846-9D85-C14DDE87E229}" type="sibTrans" cxnId="{DB60F469-EF34-4F2D-8DEF-C25D2B99700B}">
      <dgm:prSet/>
      <dgm:spPr/>
      <dgm:t>
        <a:bodyPr/>
        <a:lstStyle/>
        <a:p>
          <a:endParaRPr lang="en-US"/>
        </a:p>
      </dgm:t>
    </dgm:pt>
    <dgm:pt modelId="{8D77AF8C-F19A-4226-AE34-79F79F00CAA1}">
      <dgm:prSet/>
      <dgm:spPr/>
      <dgm:t>
        <a:bodyPr/>
        <a:lstStyle/>
        <a:p>
          <a:r>
            <a:rPr lang="en-US"/>
            <a:t>Step 6</a:t>
          </a:r>
        </a:p>
      </dgm:t>
    </dgm:pt>
    <dgm:pt modelId="{F91A3FB7-F705-44CB-8B02-783CBE2F6024}" type="parTrans" cxnId="{1AF4D3C2-61B6-4483-9114-9064A690FA07}">
      <dgm:prSet/>
      <dgm:spPr/>
      <dgm:t>
        <a:bodyPr/>
        <a:lstStyle/>
        <a:p>
          <a:endParaRPr lang="en-US"/>
        </a:p>
      </dgm:t>
    </dgm:pt>
    <dgm:pt modelId="{7F6FFC55-3ABF-477B-8D0A-31BF8F0D97F8}" type="sibTrans" cxnId="{1AF4D3C2-61B6-4483-9114-9064A690FA07}">
      <dgm:prSet/>
      <dgm:spPr/>
      <dgm:t>
        <a:bodyPr/>
        <a:lstStyle/>
        <a:p>
          <a:endParaRPr lang="en-US"/>
        </a:p>
      </dgm:t>
    </dgm:pt>
    <dgm:pt modelId="{A7A6DF71-F1C4-4BB3-98DA-F3752204B3FF}">
      <dgm:prSet/>
      <dgm:spPr/>
      <dgm:t>
        <a:bodyPr/>
        <a:lstStyle/>
        <a:p>
          <a:endParaRPr lang="en-US" dirty="0"/>
        </a:p>
      </dgm:t>
    </dgm:pt>
    <dgm:pt modelId="{2B90D3B0-87D6-42C3-89AD-5E0510E15EE7}" type="parTrans" cxnId="{9C336E40-2074-461A-BAFB-D5EDDD098D9B}">
      <dgm:prSet/>
      <dgm:spPr/>
      <dgm:t>
        <a:bodyPr/>
        <a:lstStyle/>
        <a:p>
          <a:endParaRPr lang="en-US"/>
        </a:p>
      </dgm:t>
    </dgm:pt>
    <dgm:pt modelId="{7AAAEBEA-E194-4043-9B72-5AB2895C9CD3}" type="sibTrans" cxnId="{9C336E40-2074-461A-BAFB-D5EDDD098D9B}">
      <dgm:prSet/>
      <dgm:spPr/>
      <dgm:t>
        <a:bodyPr/>
        <a:lstStyle/>
        <a:p>
          <a:endParaRPr lang="en-US"/>
        </a:p>
      </dgm:t>
    </dgm:pt>
    <dgm:pt modelId="{EFCB1462-5547-4C55-B8B4-A8477BA6BF13}">
      <dgm:prSet/>
      <dgm:spPr/>
      <dgm:t>
        <a:bodyPr/>
        <a:lstStyle/>
        <a:p>
          <a:pPr>
            <a:buNone/>
          </a:pPr>
          <a:r>
            <a:rPr lang="en-US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rPr>
            <a:t>Load 21,195 sequences from RDP Trainset 18.</a:t>
          </a:r>
          <a:endParaRPr lang="en-US"/>
        </a:p>
      </dgm:t>
    </dgm:pt>
    <dgm:pt modelId="{7E7322AF-84C3-42DF-89F2-612D38834554}" type="parTrans" cxnId="{BA93275B-C139-4CAE-9D57-B15E1A495751}">
      <dgm:prSet/>
      <dgm:spPr/>
      <dgm:t>
        <a:bodyPr/>
        <a:lstStyle/>
        <a:p>
          <a:endParaRPr lang="en-US"/>
        </a:p>
      </dgm:t>
    </dgm:pt>
    <dgm:pt modelId="{36792B49-CE56-47A8-9656-96794085AF4B}" type="sibTrans" cxnId="{BA93275B-C139-4CAE-9D57-B15E1A495751}">
      <dgm:prSet/>
      <dgm:spPr/>
      <dgm:t>
        <a:bodyPr/>
        <a:lstStyle/>
        <a:p>
          <a:endParaRPr lang="en-US"/>
        </a:p>
      </dgm:t>
    </dgm:pt>
    <dgm:pt modelId="{267DCC18-51FC-4FCE-A0BE-0687D956397B}">
      <dgm:prSet/>
      <dgm:spPr/>
      <dgm:t>
        <a:bodyPr/>
        <a:lstStyle/>
        <a:p>
          <a:pPr>
            <a:buNone/>
          </a:pPr>
          <a:r>
            <a:rPr lang="en-US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rPr>
            <a:t>Filter 1,268 singletons, split 80:20 (15,941 train, 3,986 test). </a:t>
          </a:r>
          <a:endParaRPr lang="en-US"/>
        </a:p>
      </dgm:t>
    </dgm:pt>
    <dgm:pt modelId="{B1C128D2-DA7D-4563-B145-5E25043FE63B}" type="parTrans" cxnId="{E5D16CF7-EEFF-4AAB-B9F3-6CD9D04088F2}">
      <dgm:prSet/>
      <dgm:spPr/>
      <dgm:t>
        <a:bodyPr/>
        <a:lstStyle/>
        <a:p>
          <a:endParaRPr lang="en-US"/>
        </a:p>
      </dgm:t>
    </dgm:pt>
    <dgm:pt modelId="{BE429107-29FE-4DAD-A9A0-A1491105008E}" type="sibTrans" cxnId="{E5D16CF7-EEFF-4AAB-B9F3-6CD9D04088F2}">
      <dgm:prSet/>
      <dgm:spPr/>
      <dgm:t>
        <a:bodyPr/>
        <a:lstStyle/>
        <a:p>
          <a:endParaRPr lang="en-US"/>
        </a:p>
      </dgm:t>
    </dgm:pt>
    <dgm:pt modelId="{C6AF096A-8818-4AE1-B1FE-4107ED541B0B}">
      <dgm:prSet/>
      <dgm:spPr/>
      <dgm:t>
        <a:bodyPr/>
        <a:lstStyle/>
        <a:p>
          <a:pPr>
            <a:buNone/>
          </a:pPr>
          <a:r>
            <a:rPr lang="en-US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rPr>
            <a:t>Extract 250 bp V4 region (400–650 bp). </a:t>
          </a:r>
          <a:endParaRPr lang="en-US"/>
        </a:p>
      </dgm:t>
    </dgm:pt>
    <dgm:pt modelId="{10120709-58BC-4152-B8A2-260910C44CC2}" type="parTrans" cxnId="{AAB30A62-25C3-4AE0-A435-1CCE2A5BEE32}">
      <dgm:prSet/>
      <dgm:spPr/>
      <dgm:t>
        <a:bodyPr/>
        <a:lstStyle/>
        <a:p>
          <a:endParaRPr lang="en-US"/>
        </a:p>
      </dgm:t>
    </dgm:pt>
    <dgm:pt modelId="{5C2F51E1-78CB-4569-892E-DB5435BDA90C}" type="sibTrans" cxnId="{AAB30A62-25C3-4AE0-A435-1CCE2A5BEE32}">
      <dgm:prSet/>
      <dgm:spPr/>
      <dgm:t>
        <a:bodyPr/>
        <a:lstStyle/>
        <a:p>
          <a:endParaRPr lang="en-US"/>
        </a:p>
      </dgm:t>
    </dgm:pt>
    <dgm:pt modelId="{C0A87F30-11B7-4C4F-BC5A-0DA650597E08}">
      <dgm:prSet/>
      <dgm:spPr/>
      <dgm:t>
        <a:bodyPr/>
        <a:lstStyle/>
        <a:p>
          <a:pPr>
            <a:buNone/>
          </a:pPr>
          <a:r>
            <a:rPr lang="en-US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rPr>
            <a:t>Test one-hot encoding, shift to k-mers (3–6 bp Top-100, 4–5 bp Full). </a:t>
          </a:r>
          <a:endParaRPr lang="en-US"/>
        </a:p>
      </dgm:t>
    </dgm:pt>
    <dgm:pt modelId="{33791092-4C65-4F1B-BAEE-DC4DEC3EB1EB}" type="parTrans" cxnId="{BD0CB3C8-9A56-4882-AAAF-F18FC5006993}">
      <dgm:prSet/>
      <dgm:spPr/>
      <dgm:t>
        <a:bodyPr/>
        <a:lstStyle/>
        <a:p>
          <a:endParaRPr lang="en-US"/>
        </a:p>
      </dgm:t>
    </dgm:pt>
    <dgm:pt modelId="{27DD1672-3519-4C95-BA19-F680760CABCA}" type="sibTrans" cxnId="{BD0CB3C8-9A56-4882-AAAF-F18FC5006993}">
      <dgm:prSet/>
      <dgm:spPr/>
      <dgm:t>
        <a:bodyPr/>
        <a:lstStyle/>
        <a:p>
          <a:endParaRPr lang="en-US"/>
        </a:p>
      </dgm:t>
    </dgm:pt>
    <dgm:pt modelId="{D5978DD0-2B1D-49ED-A399-655743B5E952}">
      <dgm:prSet/>
      <dgm:spPr/>
      <dgm:t>
        <a:bodyPr/>
        <a:lstStyle/>
        <a:p>
          <a:pPr>
            <a:buNone/>
          </a:pPr>
          <a:r>
            <a:rPr lang="en-US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rPr>
            <a:t>Train XGBoost (Top-100: 200 trees, Full: 100 trees). </a:t>
          </a:r>
          <a:endParaRPr lang="en-US"/>
        </a:p>
      </dgm:t>
    </dgm:pt>
    <dgm:pt modelId="{B2492A51-D79D-454A-9C76-FA895F2748ED}" type="parTrans" cxnId="{ECBC4546-9CAD-4794-9C07-63F13AD9DB6E}">
      <dgm:prSet/>
      <dgm:spPr/>
      <dgm:t>
        <a:bodyPr/>
        <a:lstStyle/>
        <a:p>
          <a:endParaRPr lang="en-US"/>
        </a:p>
      </dgm:t>
    </dgm:pt>
    <dgm:pt modelId="{3FC42F50-C19A-4E8E-A1CA-BDADD2EBD950}" type="sibTrans" cxnId="{ECBC4546-9CAD-4794-9C07-63F13AD9DB6E}">
      <dgm:prSet/>
      <dgm:spPr/>
      <dgm:t>
        <a:bodyPr/>
        <a:lstStyle/>
        <a:p>
          <a:endParaRPr lang="en-US"/>
        </a:p>
      </dgm:t>
    </dgm:pt>
    <dgm:pt modelId="{8E6DD379-0984-4939-817C-3B55BACD0E16}">
      <dgm:prSet/>
      <dgm:spPr/>
      <dgm:t>
        <a:bodyPr/>
        <a:lstStyle/>
        <a:p>
          <a:pPr>
            <a:buNone/>
          </a:pPr>
          <a:r>
            <a:rPr lang="en-US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rPr>
            <a:t>: Evaluate with accuracy, top-5 accuracy.</a:t>
          </a:r>
          <a:endParaRPr lang="en-US"/>
        </a:p>
      </dgm:t>
    </dgm:pt>
    <dgm:pt modelId="{64487408-C5AF-4EF6-B332-43B1A8B5B289}" type="parTrans" cxnId="{80DA0213-3CAF-4793-BE05-A99304EAE87C}">
      <dgm:prSet/>
      <dgm:spPr/>
      <dgm:t>
        <a:bodyPr/>
        <a:lstStyle/>
        <a:p>
          <a:endParaRPr lang="en-US"/>
        </a:p>
      </dgm:t>
    </dgm:pt>
    <dgm:pt modelId="{993E9584-FB4C-4575-A97D-B7991832E984}" type="sibTrans" cxnId="{80DA0213-3CAF-4793-BE05-A99304EAE87C}">
      <dgm:prSet/>
      <dgm:spPr/>
      <dgm:t>
        <a:bodyPr/>
        <a:lstStyle/>
        <a:p>
          <a:endParaRPr lang="en-US"/>
        </a:p>
      </dgm:t>
    </dgm:pt>
    <dgm:pt modelId="{8CBE272C-DFEC-3E45-AFDE-7830A02CF440}" type="pres">
      <dgm:prSet presAssocID="{054F5539-A4B2-4FEE-A14D-FA1C40DA1A04}" presName="Name0" presStyleCnt="0">
        <dgm:presLayoutVars>
          <dgm:dir/>
          <dgm:animLvl val="lvl"/>
          <dgm:resizeHandles val="exact"/>
        </dgm:presLayoutVars>
      </dgm:prSet>
      <dgm:spPr/>
    </dgm:pt>
    <dgm:pt modelId="{C8D06AD8-D842-F045-8085-F43473BC625B}" type="pres">
      <dgm:prSet presAssocID="{8D77AF8C-F19A-4226-AE34-79F79F00CAA1}" presName="boxAndChildren" presStyleCnt="0"/>
      <dgm:spPr/>
    </dgm:pt>
    <dgm:pt modelId="{A4A5C01C-9CEA-7542-A9DA-F0BCE5A9D71E}" type="pres">
      <dgm:prSet presAssocID="{8D77AF8C-F19A-4226-AE34-79F79F00CAA1}" presName="parentTextBox" presStyleLbl="alignNode1" presStyleIdx="0" presStyleCnt="6"/>
      <dgm:spPr/>
    </dgm:pt>
    <dgm:pt modelId="{A4DCEA11-1C52-B84D-831C-C6E82835E69F}" type="pres">
      <dgm:prSet presAssocID="{8D77AF8C-F19A-4226-AE34-79F79F00CAA1}" presName="descendantBox" presStyleLbl="bgAccFollowNode1" presStyleIdx="0" presStyleCnt="6"/>
      <dgm:spPr/>
    </dgm:pt>
    <dgm:pt modelId="{95DA5E82-5E48-AB4A-90E0-9E1B14315635}" type="pres">
      <dgm:prSet presAssocID="{CB477C9B-DC8B-4FC3-9139-A0E2C70D9711}" presName="sp" presStyleCnt="0"/>
      <dgm:spPr/>
    </dgm:pt>
    <dgm:pt modelId="{86968BF5-40DD-A34D-8CF7-A6192843846F}" type="pres">
      <dgm:prSet presAssocID="{1DFC9E3C-0C21-428E-8DDB-4DBBE100A96B}" presName="arrowAndChildren" presStyleCnt="0"/>
      <dgm:spPr/>
    </dgm:pt>
    <dgm:pt modelId="{BFBDC332-3138-214B-A1F1-13EAD053CC66}" type="pres">
      <dgm:prSet presAssocID="{1DFC9E3C-0C21-428E-8DDB-4DBBE100A96B}" presName="parentTextArrow" presStyleLbl="node1" presStyleIdx="0" presStyleCnt="0"/>
      <dgm:spPr/>
    </dgm:pt>
    <dgm:pt modelId="{59612E42-2966-7D4B-8F21-AF4D32219590}" type="pres">
      <dgm:prSet presAssocID="{1DFC9E3C-0C21-428E-8DDB-4DBBE100A96B}" presName="arrow" presStyleLbl="alignNode1" presStyleIdx="1" presStyleCnt="6"/>
      <dgm:spPr/>
    </dgm:pt>
    <dgm:pt modelId="{C2A69F78-D06B-8642-9EF8-2DFE7BC3FE00}" type="pres">
      <dgm:prSet presAssocID="{1DFC9E3C-0C21-428E-8DDB-4DBBE100A96B}" presName="descendantArrow" presStyleLbl="bgAccFollowNode1" presStyleIdx="1" presStyleCnt="6"/>
      <dgm:spPr/>
    </dgm:pt>
    <dgm:pt modelId="{1452FA4D-1DEA-5342-8F11-F68942AE28AB}" type="pres">
      <dgm:prSet presAssocID="{148346F7-A47A-48D9-9326-7C1CBF78CEE7}" presName="sp" presStyleCnt="0"/>
      <dgm:spPr/>
    </dgm:pt>
    <dgm:pt modelId="{0ACC7AC5-BA94-A648-A5C7-13337D94E2F6}" type="pres">
      <dgm:prSet presAssocID="{D032B980-8EA0-45C4-94CD-11681523ED9B}" presName="arrowAndChildren" presStyleCnt="0"/>
      <dgm:spPr/>
    </dgm:pt>
    <dgm:pt modelId="{ED15DB2C-D5D3-F044-9CF3-AF03D8CA1D4B}" type="pres">
      <dgm:prSet presAssocID="{D032B980-8EA0-45C4-94CD-11681523ED9B}" presName="parentTextArrow" presStyleLbl="node1" presStyleIdx="0" presStyleCnt="0"/>
      <dgm:spPr/>
    </dgm:pt>
    <dgm:pt modelId="{8C01F75D-600F-D849-A747-509E8DF8D7E6}" type="pres">
      <dgm:prSet presAssocID="{D032B980-8EA0-45C4-94CD-11681523ED9B}" presName="arrow" presStyleLbl="alignNode1" presStyleIdx="2" presStyleCnt="6"/>
      <dgm:spPr/>
    </dgm:pt>
    <dgm:pt modelId="{CE355F69-3EFD-FC43-B36A-0B710B93612D}" type="pres">
      <dgm:prSet presAssocID="{D032B980-8EA0-45C4-94CD-11681523ED9B}" presName="descendantArrow" presStyleLbl="bgAccFollowNode1" presStyleIdx="2" presStyleCnt="6"/>
      <dgm:spPr/>
    </dgm:pt>
    <dgm:pt modelId="{18F2BC71-4D0B-0C4E-8099-0F0767B00F21}" type="pres">
      <dgm:prSet presAssocID="{ABFACD7A-CFAF-4862-BB02-AC2A480CB979}" presName="sp" presStyleCnt="0"/>
      <dgm:spPr/>
    </dgm:pt>
    <dgm:pt modelId="{6CB34CEA-60BF-1A4C-B4E7-3AA96A152836}" type="pres">
      <dgm:prSet presAssocID="{CF4DC95C-4970-42B3-A322-496294BAE48D}" presName="arrowAndChildren" presStyleCnt="0"/>
      <dgm:spPr/>
    </dgm:pt>
    <dgm:pt modelId="{10977552-9294-7341-AEB9-BE68B0473891}" type="pres">
      <dgm:prSet presAssocID="{CF4DC95C-4970-42B3-A322-496294BAE48D}" presName="parentTextArrow" presStyleLbl="node1" presStyleIdx="0" presStyleCnt="0"/>
      <dgm:spPr/>
    </dgm:pt>
    <dgm:pt modelId="{176FB10E-67F2-244A-9C51-F1A5D4E7014B}" type="pres">
      <dgm:prSet presAssocID="{CF4DC95C-4970-42B3-A322-496294BAE48D}" presName="arrow" presStyleLbl="alignNode1" presStyleIdx="3" presStyleCnt="6"/>
      <dgm:spPr/>
    </dgm:pt>
    <dgm:pt modelId="{B5ADD037-1B52-0741-85DE-261FBD030161}" type="pres">
      <dgm:prSet presAssocID="{CF4DC95C-4970-42B3-A322-496294BAE48D}" presName="descendantArrow" presStyleLbl="bgAccFollowNode1" presStyleIdx="3" presStyleCnt="6"/>
      <dgm:spPr/>
    </dgm:pt>
    <dgm:pt modelId="{E0985A41-6445-5346-A233-1C098977BC8B}" type="pres">
      <dgm:prSet presAssocID="{1D5951E0-348B-41B9-B98B-393B87F2D50A}" presName="sp" presStyleCnt="0"/>
      <dgm:spPr/>
    </dgm:pt>
    <dgm:pt modelId="{0696557E-84D9-4845-BB42-819641E758FC}" type="pres">
      <dgm:prSet presAssocID="{D610ED89-638F-4716-BD0A-DF71726D5551}" presName="arrowAndChildren" presStyleCnt="0"/>
      <dgm:spPr/>
    </dgm:pt>
    <dgm:pt modelId="{67523CA7-E1FC-C74E-830E-94853D532541}" type="pres">
      <dgm:prSet presAssocID="{D610ED89-638F-4716-BD0A-DF71726D5551}" presName="parentTextArrow" presStyleLbl="node1" presStyleIdx="0" presStyleCnt="0"/>
      <dgm:spPr/>
    </dgm:pt>
    <dgm:pt modelId="{65CC2DDA-74B7-1C40-9934-246CA94A0A05}" type="pres">
      <dgm:prSet presAssocID="{D610ED89-638F-4716-BD0A-DF71726D5551}" presName="arrow" presStyleLbl="alignNode1" presStyleIdx="4" presStyleCnt="6"/>
      <dgm:spPr/>
    </dgm:pt>
    <dgm:pt modelId="{64E655E2-8A0E-AC40-BEC2-54C12707DA08}" type="pres">
      <dgm:prSet presAssocID="{D610ED89-638F-4716-BD0A-DF71726D5551}" presName="descendantArrow" presStyleLbl="bgAccFollowNode1" presStyleIdx="4" presStyleCnt="6"/>
      <dgm:spPr/>
    </dgm:pt>
    <dgm:pt modelId="{C97009CD-0E4D-F94E-AE4A-6A7E84864B1E}" type="pres">
      <dgm:prSet presAssocID="{57C530ED-327E-4F53-9E8B-4490FF5CD35C}" presName="sp" presStyleCnt="0"/>
      <dgm:spPr/>
    </dgm:pt>
    <dgm:pt modelId="{72B03B82-A775-DD47-94DD-2948BCDE37F9}" type="pres">
      <dgm:prSet presAssocID="{9B453CB0-161B-4585-9690-EF5C96AC0561}" presName="arrowAndChildren" presStyleCnt="0"/>
      <dgm:spPr/>
    </dgm:pt>
    <dgm:pt modelId="{6792E3CC-CC2C-2F42-9E59-6B2599D9ED15}" type="pres">
      <dgm:prSet presAssocID="{9B453CB0-161B-4585-9690-EF5C96AC0561}" presName="parentTextArrow" presStyleLbl="node1" presStyleIdx="0" presStyleCnt="0"/>
      <dgm:spPr/>
    </dgm:pt>
    <dgm:pt modelId="{772BFCBB-F9A7-754D-A415-B99AFA81DF30}" type="pres">
      <dgm:prSet presAssocID="{9B453CB0-161B-4585-9690-EF5C96AC0561}" presName="arrow" presStyleLbl="alignNode1" presStyleIdx="5" presStyleCnt="6"/>
      <dgm:spPr/>
    </dgm:pt>
    <dgm:pt modelId="{D5C2C13A-A3EF-644D-B983-85DA242B99E6}" type="pres">
      <dgm:prSet presAssocID="{9B453CB0-161B-4585-9690-EF5C96AC0561}" presName="descendantArrow" presStyleLbl="bgAccFollowNode1" presStyleIdx="5" presStyleCnt="6"/>
      <dgm:spPr/>
    </dgm:pt>
  </dgm:ptLst>
  <dgm:cxnLst>
    <dgm:cxn modelId="{97620F0B-CFB1-4B69-9C2F-15572F24B7A1}" type="presOf" srcId="{D5978DD0-2B1D-49ED-A399-655743B5E952}" destId="{C2A69F78-D06B-8642-9EF8-2DFE7BC3FE00}" srcOrd="0" destOrd="1" presId="urn:microsoft.com/office/officeart/2016/7/layout/VerticalDownArrowProcess"/>
    <dgm:cxn modelId="{90C7A70B-DC85-40FA-A972-B4F7763ED966}" type="presOf" srcId="{267DCC18-51FC-4FCE-A0BE-0687D956397B}" destId="{64E655E2-8A0E-AC40-BEC2-54C12707DA08}" srcOrd="0" destOrd="1" presId="urn:microsoft.com/office/officeart/2016/7/layout/VerticalDownArrowProcess"/>
    <dgm:cxn modelId="{80DA0213-3CAF-4793-BE05-A99304EAE87C}" srcId="{8D77AF8C-F19A-4226-AE34-79F79F00CAA1}" destId="{8E6DD379-0984-4939-817C-3B55BACD0E16}" srcOrd="1" destOrd="0" parTransId="{64487408-C5AF-4EF6-B332-43B1A8B5B289}" sibTransId="{993E9584-FB4C-4575-A97D-B7991832E984}"/>
    <dgm:cxn modelId="{44421614-120A-4780-952D-54497DBB42ED}" srcId="{D610ED89-638F-4716-BD0A-DF71726D5551}" destId="{0D1E1E27-82CA-41D5-9B41-4CE86FAC852E}" srcOrd="0" destOrd="0" parTransId="{8D890A82-9841-4427-BAD8-BB35D5CF0EA5}" sibTransId="{08AB264C-69F7-4285-9E14-E43C11385752}"/>
    <dgm:cxn modelId="{7FFCEC18-DC7C-6349-A61D-F8FFA8BFEAF5}" type="presOf" srcId="{0D1E1E27-82CA-41D5-9B41-4CE86FAC852E}" destId="{64E655E2-8A0E-AC40-BEC2-54C12707DA08}" srcOrd="0" destOrd="0" presId="urn:microsoft.com/office/officeart/2016/7/layout/VerticalDownArrowProcess"/>
    <dgm:cxn modelId="{6CD47019-DEBA-CA4C-96D0-391B54E7E6B4}" type="presOf" srcId="{D610ED89-638F-4716-BD0A-DF71726D5551}" destId="{65CC2DDA-74B7-1C40-9934-246CA94A0A05}" srcOrd="1" destOrd="0" presId="urn:microsoft.com/office/officeart/2016/7/layout/VerticalDownArrowProcess"/>
    <dgm:cxn modelId="{86A02C26-7364-4226-92EC-57879444DF86}" type="presOf" srcId="{EFCB1462-5547-4C55-B8B4-A8477BA6BF13}" destId="{D5C2C13A-A3EF-644D-B983-85DA242B99E6}" srcOrd="0" destOrd="1" presId="urn:microsoft.com/office/officeart/2016/7/layout/VerticalDownArrowProcess"/>
    <dgm:cxn modelId="{5F9DC12A-E59A-D84C-9FC3-65397C6983C0}" type="presOf" srcId="{D032B980-8EA0-45C4-94CD-11681523ED9B}" destId="{8C01F75D-600F-D849-A747-509E8DF8D7E6}" srcOrd="1" destOrd="0" presId="urn:microsoft.com/office/officeart/2016/7/layout/VerticalDownArrowProcess"/>
    <dgm:cxn modelId="{74A7543A-BFD4-7348-8EB3-4B21B550ABD5}" type="presOf" srcId="{D610ED89-638F-4716-BD0A-DF71726D5551}" destId="{67523CA7-E1FC-C74E-830E-94853D532541}" srcOrd="0" destOrd="0" presId="urn:microsoft.com/office/officeart/2016/7/layout/VerticalDownArrowProcess"/>
    <dgm:cxn modelId="{4D9D803C-85CC-1C4D-BF3F-51C92B250430}" type="presOf" srcId="{FF331CDF-855B-4173-9A70-BF7C7C7A45AA}" destId="{B5ADD037-1B52-0741-85DE-261FBD030161}" srcOrd="0" destOrd="0" presId="urn:microsoft.com/office/officeart/2016/7/layout/VerticalDownArrowProcess"/>
    <dgm:cxn modelId="{9C336E40-2074-461A-BAFB-D5EDDD098D9B}" srcId="{8D77AF8C-F19A-4226-AE34-79F79F00CAA1}" destId="{A7A6DF71-F1C4-4BB3-98DA-F3752204B3FF}" srcOrd="0" destOrd="0" parTransId="{2B90D3B0-87D6-42C3-89AD-5E0510E15EE7}" sibTransId="{7AAAEBEA-E194-4043-9B72-5AB2895C9CD3}"/>
    <dgm:cxn modelId="{BA93275B-C139-4CAE-9D57-B15E1A495751}" srcId="{9B453CB0-161B-4585-9690-EF5C96AC0561}" destId="{EFCB1462-5547-4C55-B8B4-A8477BA6BF13}" srcOrd="1" destOrd="0" parTransId="{7E7322AF-84C3-42DF-89F2-612D38834554}" sibTransId="{36792B49-CE56-47A8-9656-96794085AF4B}"/>
    <dgm:cxn modelId="{48EA755B-F6D2-4E93-9AD7-44D32C32175B}" srcId="{9B453CB0-161B-4585-9690-EF5C96AC0561}" destId="{87A60A5B-482C-4AD5-A6E5-D153689F4441}" srcOrd="0" destOrd="0" parTransId="{FF7B3691-CFFD-4F2B-89CB-CDC6A42A9117}" sibTransId="{4CF983F8-A278-40BD-BC0D-C70610B1D870}"/>
    <dgm:cxn modelId="{DB133841-4C22-43B9-9C8F-B0B0F1022A51}" srcId="{CF4DC95C-4970-42B3-A322-496294BAE48D}" destId="{FF331CDF-855B-4173-9A70-BF7C7C7A45AA}" srcOrd="0" destOrd="0" parTransId="{0D12DB5C-BA05-47E4-B00C-F945B57C60F8}" sibTransId="{B9F51368-D885-4CD4-9A93-689146EFA290}"/>
    <dgm:cxn modelId="{AAB30A62-25C3-4AE0-A435-1CCE2A5BEE32}" srcId="{CF4DC95C-4970-42B3-A322-496294BAE48D}" destId="{C6AF096A-8818-4AE1-B1FE-4107ED541B0B}" srcOrd="1" destOrd="0" parTransId="{10120709-58BC-4152-B8A2-260910C44CC2}" sibTransId="{5C2F51E1-78CB-4569-892E-DB5435BDA90C}"/>
    <dgm:cxn modelId="{86F26842-E882-064F-B589-93B5270081CA}" type="presOf" srcId="{1DFC9E3C-0C21-428E-8DDB-4DBBE100A96B}" destId="{BFBDC332-3138-214B-A1F1-13EAD053CC66}" srcOrd="0" destOrd="0" presId="urn:microsoft.com/office/officeart/2016/7/layout/VerticalDownArrowProcess"/>
    <dgm:cxn modelId="{ECBC4546-9CAD-4794-9C07-63F13AD9DB6E}" srcId="{1DFC9E3C-0C21-428E-8DDB-4DBBE100A96B}" destId="{D5978DD0-2B1D-49ED-A399-655743B5E952}" srcOrd="1" destOrd="0" parTransId="{B2492A51-D79D-454A-9C76-FA895F2748ED}" sibTransId="{3FC42F50-C19A-4E8E-A1CA-BDADD2EBD950}"/>
    <dgm:cxn modelId="{13428E48-266C-7D45-B16B-93523EA24303}" type="presOf" srcId="{87A60A5B-482C-4AD5-A6E5-D153689F4441}" destId="{D5C2C13A-A3EF-644D-B983-85DA242B99E6}" srcOrd="0" destOrd="0" presId="urn:microsoft.com/office/officeart/2016/7/layout/VerticalDownArrowProcess"/>
    <dgm:cxn modelId="{F2AC0569-737A-014E-B5BA-33DBCDAD2A76}" type="presOf" srcId="{9B453CB0-161B-4585-9690-EF5C96AC0561}" destId="{6792E3CC-CC2C-2F42-9E59-6B2599D9ED15}" srcOrd="0" destOrd="0" presId="urn:microsoft.com/office/officeart/2016/7/layout/VerticalDownArrowProcess"/>
    <dgm:cxn modelId="{DB60F469-EF34-4F2D-8DEF-C25D2B99700B}" srcId="{1DFC9E3C-0C21-428E-8DDB-4DBBE100A96B}" destId="{8528CF68-4B35-4D8F-9A63-AA61D6100817}" srcOrd="0" destOrd="0" parTransId="{B78FD11E-EE0C-4F52-8D05-B5BECE946536}" sibTransId="{2B400DD6-1458-4846-9D85-C14DDE87E229}"/>
    <dgm:cxn modelId="{CF66306B-7130-43CF-BE38-0B1B9FAF6425}" type="presOf" srcId="{8E6DD379-0984-4939-817C-3B55BACD0E16}" destId="{A4DCEA11-1C52-B84D-831C-C6E82835E69F}" srcOrd="0" destOrd="1" presId="urn:microsoft.com/office/officeart/2016/7/layout/VerticalDownArrowProcess"/>
    <dgm:cxn modelId="{BD911551-34B3-2046-AAFC-B3AF9D609CFC}" type="presOf" srcId="{8D77AF8C-F19A-4226-AE34-79F79F00CAA1}" destId="{A4A5C01C-9CEA-7542-A9DA-F0BCE5A9D71E}" srcOrd="0" destOrd="0" presId="urn:microsoft.com/office/officeart/2016/7/layout/VerticalDownArrowProcess"/>
    <dgm:cxn modelId="{6DA8AE73-FEB7-45F1-BEA4-9095738EF64A}" srcId="{D032B980-8EA0-45C4-94CD-11681523ED9B}" destId="{A4127645-66A7-4D14-A962-F106C8024E5E}" srcOrd="0" destOrd="0" parTransId="{1425AA94-0E14-4E88-859D-335681E52552}" sibTransId="{01DDBEC6-EBD4-467B-8EDC-BB1B59B8ECD1}"/>
    <dgm:cxn modelId="{E9A00054-562F-A343-8D3E-923C7C072006}" type="presOf" srcId="{8528CF68-4B35-4D8F-9A63-AA61D6100817}" destId="{C2A69F78-D06B-8642-9EF8-2DFE7BC3FE00}" srcOrd="0" destOrd="0" presId="urn:microsoft.com/office/officeart/2016/7/layout/VerticalDownArrowProcess"/>
    <dgm:cxn modelId="{58DD2057-F8F7-4BA2-9C0D-6DF61003B882}" type="presOf" srcId="{C6AF096A-8818-4AE1-B1FE-4107ED541B0B}" destId="{B5ADD037-1B52-0741-85DE-261FBD030161}" srcOrd="0" destOrd="1" presId="urn:microsoft.com/office/officeart/2016/7/layout/VerticalDownArrowProcess"/>
    <dgm:cxn modelId="{2B62F086-753D-714F-9224-3BBC13D86377}" type="presOf" srcId="{A4127645-66A7-4D14-A962-F106C8024E5E}" destId="{CE355F69-3EFD-FC43-B36A-0B710B93612D}" srcOrd="0" destOrd="0" presId="urn:microsoft.com/office/officeart/2016/7/layout/VerticalDownArrowProcess"/>
    <dgm:cxn modelId="{B953D293-8406-AC4E-B9F7-6D866C5BC113}" type="presOf" srcId="{A7A6DF71-F1C4-4BB3-98DA-F3752204B3FF}" destId="{A4DCEA11-1C52-B84D-831C-C6E82835E69F}" srcOrd="0" destOrd="0" presId="urn:microsoft.com/office/officeart/2016/7/layout/VerticalDownArrowProcess"/>
    <dgm:cxn modelId="{39B27E9D-4C8B-4AF5-A464-6508351846F1}" srcId="{054F5539-A4B2-4FEE-A14D-FA1C40DA1A04}" destId="{D610ED89-638F-4716-BD0A-DF71726D5551}" srcOrd="1" destOrd="0" parTransId="{7FB1D790-10EA-4363-A918-FF0FD601558C}" sibTransId="{1D5951E0-348B-41B9-B98B-393B87F2D50A}"/>
    <dgm:cxn modelId="{C1DEE7A4-80F1-6049-A5E5-743A22D3F4A6}" type="presOf" srcId="{CF4DC95C-4970-42B3-A322-496294BAE48D}" destId="{176FB10E-67F2-244A-9C51-F1A5D4E7014B}" srcOrd="1" destOrd="0" presId="urn:microsoft.com/office/officeart/2016/7/layout/VerticalDownArrowProcess"/>
    <dgm:cxn modelId="{F94392AE-4D3C-4412-B053-476917C9251E}" srcId="{054F5539-A4B2-4FEE-A14D-FA1C40DA1A04}" destId="{9B453CB0-161B-4585-9690-EF5C96AC0561}" srcOrd="0" destOrd="0" parTransId="{FA693E23-FB71-4DFC-B4CC-0E8A44700A6B}" sibTransId="{57C530ED-327E-4F53-9E8B-4490FF5CD35C}"/>
    <dgm:cxn modelId="{E844F8B4-2E87-409D-8D59-EF8A996CD68E}" srcId="{054F5539-A4B2-4FEE-A14D-FA1C40DA1A04}" destId="{D032B980-8EA0-45C4-94CD-11681523ED9B}" srcOrd="3" destOrd="0" parTransId="{01EC26F4-0092-474A-A7DB-3061A1C71497}" sibTransId="{148346F7-A47A-48D9-9326-7C1CBF78CEE7}"/>
    <dgm:cxn modelId="{B5E8ABBC-DE29-9840-9EF5-3ABD77FA2237}" type="presOf" srcId="{1DFC9E3C-0C21-428E-8DDB-4DBBE100A96B}" destId="{59612E42-2966-7D4B-8F21-AF4D32219590}" srcOrd="1" destOrd="0" presId="urn:microsoft.com/office/officeart/2016/7/layout/VerticalDownArrowProcess"/>
    <dgm:cxn modelId="{15E69BBE-9288-C546-9B8C-984CB5E61162}" type="presOf" srcId="{D032B980-8EA0-45C4-94CD-11681523ED9B}" destId="{ED15DB2C-D5D3-F044-9CF3-AF03D8CA1D4B}" srcOrd="0" destOrd="0" presId="urn:microsoft.com/office/officeart/2016/7/layout/VerticalDownArrowProcess"/>
    <dgm:cxn modelId="{1AF4D3C2-61B6-4483-9114-9064A690FA07}" srcId="{054F5539-A4B2-4FEE-A14D-FA1C40DA1A04}" destId="{8D77AF8C-F19A-4226-AE34-79F79F00CAA1}" srcOrd="5" destOrd="0" parTransId="{F91A3FB7-F705-44CB-8B02-783CBE2F6024}" sibTransId="{7F6FFC55-3ABF-477B-8D0A-31BF8F0D97F8}"/>
    <dgm:cxn modelId="{BD0CB3C8-9A56-4882-AAAF-F18FC5006993}" srcId="{D032B980-8EA0-45C4-94CD-11681523ED9B}" destId="{C0A87F30-11B7-4C4F-BC5A-0DA650597E08}" srcOrd="1" destOrd="0" parTransId="{33791092-4C65-4F1B-BAEE-DC4DEC3EB1EB}" sibTransId="{27DD1672-3519-4C95-BA19-F680760CABCA}"/>
    <dgm:cxn modelId="{72C32CDE-D67F-44EA-99C1-6C3AF1FAC001}" type="presOf" srcId="{C0A87F30-11B7-4C4F-BC5A-0DA650597E08}" destId="{CE355F69-3EFD-FC43-B36A-0B710B93612D}" srcOrd="0" destOrd="1" presId="urn:microsoft.com/office/officeart/2016/7/layout/VerticalDownArrowProcess"/>
    <dgm:cxn modelId="{99B4C5DE-19AF-6440-92FE-CCBB9E4A0F1F}" type="presOf" srcId="{CF4DC95C-4970-42B3-A322-496294BAE48D}" destId="{10977552-9294-7341-AEB9-BE68B0473891}" srcOrd="0" destOrd="0" presId="urn:microsoft.com/office/officeart/2016/7/layout/VerticalDownArrowProcess"/>
    <dgm:cxn modelId="{0C9439E6-59F5-450D-9939-6DD9FA275CA5}" srcId="{054F5539-A4B2-4FEE-A14D-FA1C40DA1A04}" destId="{1DFC9E3C-0C21-428E-8DDB-4DBBE100A96B}" srcOrd="4" destOrd="0" parTransId="{E528EC6B-C75B-47B1-B637-B54FB2837A10}" sibTransId="{CB477C9B-DC8B-4FC3-9139-A0E2C70D9711}"/>
    <dgm:cxn modelId="{61A13AEC-E7F6-4371-9B3C-D229F1D6B5C5}" srcId="{054F5539-A4B2-4FEE-A14D-FA1C40DA1A04}" destId="{CF4DC95C-4970-42B3-A322-496294BAE48D}" srcOrd="2" destOrd="0" parTransId="{16B00682-E294-46FB-B3F9-BC111E4135BC}" sibTransId="{ABFACD7A-CFAF-4862-BB02-AC2A480CB979}"/>
    <dgm:cxn modelId="{167C3AF1-3DE2-354D-B7C4-C582ABF63376}" type="presOf" srcId="{054F5539-A4B2-4FEE-A14D-FA1C40DA1A04}" destId="{8CBE272C-DFEC-3E45-AFDE-7830A02CF440}" srcOrd="0" destOrd="0" presId="urn:microsoft.com/office/officeart/2016/7/layout/VerticalDownArrowProcess"/>
    <dgm:cxn modelId="{E5D16CF7-EEFF-4AAB-B9F3-6CD9D04088F2}" srcId="{D610ED89-638F-4716-BD0A-DF71726D5551}" destId="{267DCC18-51FC-4FCE-A0BE-0687D956397B}" srcOrd="1" destOrd="0" parTransId="{B1C128D2-DA7D-4563-B145-5E25043FE63B}" sibTransId="{BE429107-29FE-4DAD-A9A0-A1491105008E}"/>
    <dgm:cxn modelId="{088353FB-61F2-ED48-A113-226A59201F22}" type="presOf" srcId="{9B453CB0-161B-4585-9690-EF5C96AC0561}" destId="{772BFCBB-F9A7-754D-A415-B99AFA81DF30}" srcOrd="1" destOrd="0" presId="urn:microsoft.com/office/officeart/2016/7/layout/VerticalDownArrowProcess"/>
    <dgm:cxn modelId="{423117E8-9C13-BE46-8555-C320AB2E7B75}" type="presParOf" srcId="{8CBE272C-DFEC-3E45-AFDE-7830A02CF440}" destId="{C8D06AD8-D842-F045-8085-F43473BC625B}" srcOrd="0" destOrd="0" presId="urn:microsoft.com/office/officeart/2016/7/layout/VerticalDownArrowProcess"/>
    <dgm:cxn modelId="{AE909291-26E6-B049-BB0A-315D88078BAC}" type="presParOf" srcId="{C8D06AD8-D842-F045-8085-F43473BC625B}" destId="{A4A5C01C-9CEA-7542-A9DA-F0BCE5A9D71E}" srcOrd="0" destOrd="0" presId="urn:microsoft.com/office/officeart/2016/7/layout/VerticalDownArrowProcess"/>
    <dgm:cxn modelId="{37BC5EF8-4C31-AA4F-8B00-9A9777789878}" type="presParOf" srcId="{C8D06AD8-D842-F045-8085-F43473BC625B}" destId="{A4DCEA11-1C52-B84D-831C-C6E82835E69F}" srcOrd="1" destOrd="0" presId="urn:microsoft.com/office/officeart/2016/7/layout/VerticalDownArrowProcess"/>
    <dgm:cxn modelId="{7F44F38E-E476-F74A-AAB8-199821CA73CF}" type="presParOf" srcId="{8CBE272C-DFEC-3E45-AFDE-7830A02CF440}" destId="{95DA5E82-5E48-AB4A-90E0-9E1B14315635}" srcOrd="1" destOrd="0" presId="urn:microsoft.com/office/officeart/2016/7/layout/VerticalDownArrowProcess"/>
    <dgm:cxn modelId="{0FFC1F43-FA36-604D-BF82-E30E0D0604DB}" type="presParOf" srcId="{8CBE272C-DFEC-3E45-AFDE-7830A02CF440}" destId="{86968BF5-40DD-A34D-8CF7-A6192843846F}" srcOrd="2" destOrd="0" presId="urn:microsoft.com/office/officeart/2016/7/layout/VerticalDownArrowProcess"/>
    <dgm:cxn modelId="{9075F20D-9A2A-D249-A3FC-996027D8C302}" type="presParOf" srcId="{86968BF5-40DD-A34D-8CF7-A6192843846F}" destId="{BFBDC332-3138-214B-A1F1-13EAD053CC66}" srcOrd="0" destOrd="0" presId="urn:microsoft.com/office/officeart/2016/7/layout/VerticalDownArrowProcess"/>
    <dgm:cxn modelId="{227DFEC9-9783-B242-A762-50BD4982745E}" type="presParOf" srcId="{86968BF5-40DD-A34D-8CF7-A6192843846F}" destId="{59612E42-2966-7D4B-8F21-AF4D32219590}" srcOrd="1" destOrd="0" presId="urn:microsoft.com/office/officeart/2016/7/layout/VerticalDownArrowProcess"/>
    <dgm:cxn modelId="{96FD9E4E-5831-B146-8381-7521D2CCE826}" type="presParOf" srcId="{86968BF5-40DD-A34D-8CF7-A6192843846F}" destId="{C2A69F78-D06B-8642-9EF8-2DFE7BC3FE00}" srcOrd="2" destOrd="0" presId="urn:microsoft.com/office/officeart/2016/7/layout/VerticalDownArrowProcess"/>
    <dgm:cxn modelId="{BBB5C562-D24C-A14D-80EF-62DAE19CDEBA}" type="presParOf" srcId="{8CBE272C-DFEC-3E45-AFDE-7830A02CF440}" destId="{1452FA4D-1DEA-5342-8F11-F68942AE28AB}" srcOrd="3" destOrd="0" presId="urn:microsoft.com/office/officeart/2016/7/layout/VerticalDownArrowProcess"/>
    <dgm:cxn modelId="{CA9BCB70-E196-4E40-AB76-726B2C1749CD}" type="presParOf" srcId="{8CBE272C-DFEC-3E45-AFDE-7830A02CF440}" destId="{0ACC7AC5-BA94-A648-A5C7-13337D94E2F6}" srcOrd="4" destOrd="0" presId="urn:microsoft.com/office/officeart/2016/7/layout/VerticalDownArrowProcess"/>
    <dgm:cxn modelId="{85DD962C-26A9-A149-9428-E9E0C9092DFA}" type="presParOf" srcId="{0ACC7AC5-BA94-A648-A5C7-13337D94E2F6}" destId="{ED15DB2C-D5D3-F044-9CF3-AF03D8CA1D4B}" srcOrd="0" destOrd="0" presId="urn:microsoft.com/office/officeart/2016/7/layout/VerticalDownArrowProcess"/>
    <dgm:cxn modelId="{E0E0A927-EEFF-6948-9576-E8B05FE1D87B}" type="presParOf" srcId="{0ACC7AC5-BA94-A648-A5C7-13337D94E2F6}" destId="{8C01F75D-600F-D849-A747-509E8DF8D7E6}" srcOrd="1" destOrd="0" presId="urn:microsoft.com/office/officeart/2016/7/layout/VerticalDownArrowProcess"/>
    <dgm:cxn modelId="{D822B4EF-00AE-CB4C-A528-3C5720674C38}" type="presParOf" srcId="{0ACC7AC5-BA94-A648-A5C7-13337D94E2F6}" destId="{CE355F69-3EFD-FC43-B36A-0B710B93612D}" srcOrd="2" destOrd="0" presId="urn:microsoft.com/office/officeart/2016/7/layout/VerticalDownArrowProcess"/>
    <dgm:cxn modelId="{9FE2BFF3-D225-3741-9610-012DC89CFF93}" type="presParOf" srcId="{8CBE272C-DFEC-3E45-AFDE-7830A02CF440}" destId="{18F2BC71-4D0B-0C4E-8099-0F0767B00F21}" srcOrd="5" destOrd="0" presId="urn:microsoft.com/office/officeart/2016/7/layout/VerticalDownArrowProcess"/>
    <dgm:cxn modelId="{4A90C656-9F85-9D44-A9C6-3EB3DBD05361}" type="presParOf" srcId="{8CBE272C-DFEC-3E45-AFDE-7830A02CF440}" destId="{6CB34CEA-60BF-1A4C-B4E7-3AA96A152836}" srcOrd="6" destOrd="0" presId="urn:microsoft.com/office/officeart/2016/7/layout/VerticalDownArrowProcess"/>
    <dgm:cxn modelId="{65DB8B3E-450B-F947-812B-C2B0FE33E4A9}" type="presParOf" srcId="{6CB34CEA-60BF-1A4C-B4E7-3AA96A152836}" destId="{10977552-9294-7341-AEB9-BE68B0473891}" srcOrd="0" destOrd="0" presId="urn:microsoft.com/office/officeart/2016/7/layout/VerticalDownArrowProcess"/>
    <dgm:cxn modelId="{D66A5F8F-9EAF-734E-BE83-ABFF1E6FC7D6}" type="presParOf" srcId="{6CB34CEA-60BF-1A4C-B4E7-3AA96A152836}" destId="{176FB10E-67F2-244A-9C51-F1A5D4E7014B}" srcOrd="1" destOrd="0" presId="urn:microsoft.com/office/officeart/2016/7/layout/VerticalDownArrowProcess"/>
    <dgm:cxn modelId="{ACA52874-0FE3-C34F-AD0D-2BA31D44D1A5}" type="presParOf" srcId="{6CB34CEA-60BF-1A4C-B4E7-3AA96A152836}" destId="{B5ADD037-1B52-0741-85DE-261FBD030161}" srcOrd="2" destOrd="0" presId="urn:microsoft.com/office/officeart/2016/7/layout/VerticalDownArrowProcess"/>
    <dgm:cxn modelId="{35F978BB-3FB3-644D-9BB0-5F402E102123}" type="presParOf" srcId="{8CBE272C-DFEC-3E45-AFDE-7830A02CF440}" destId="{E0985A41-6445-5346-A233-1C098977BC8B}" srcOrd="7" destOrd="0" presId="urn:microsoft.com/office/officeart/2016/7/layout/VerticalDownArrowProcess"/>
    <dgm:cxn modelId="{48A7CCA4-B711-004D-9D8A-F6B41ACA8355}" type="presParOf" srcId="{8CBE272C-DFEC-3E45-AFDE-7830A02CF440}" destId="{0696557E-84D9-4845-BB42-819641E758FC}" srcOrd="8" destOrd="0" presId="urn:microsoft.com/office/officeart/2016/7/layout/VerticalDownArrowProcess"/>
    <dgm:cxn modelId="{9C9D7891-ACDC-3944-B3BC-9FF2EC74F4BD}" type="presParOf" srcId="{0696557E-84D9-4845-BB42-819641E758FC}" destId="{67523CA7-E1FC-C74E-830E-94853D532541}" srcOrd="0" destOrd="0" presId="urn:microsoft.com/office/officeart/2016/7/layout/VerticalDownArrowProcess"/>
    <dgm:cxn modelId="{20EB2A0E-D236-D245-A481-E6ECBD395AE3}" type="presParOf" srcId="{0696557E-84D9-4845-BB42-819641E758FC}" destId="{65CC2DDA-74B7-1C40-9934-246CA94A0A05}" srcOrd="1" destOrd="0" presId="urn:microsoft.com/office/officeart/2016/7/layout/VerticalDownArrowProcess"/>
    <dgm:cxn modelId="{89EBFB08-0617-AC46-9E2E-B38DFD0E7431}" type="presParOf" srcId="{0696557E-84D9-4845-BB42-819641E758FC}" destId="{64E655E2-8A0E-AC40-BEC2-54C12707DA08}" srcOrd="2" destOrd="0" presId="urn:microsoft.com/office/officeart/2016/7/layout/VerticalDownArrowProcess"/>
    <dgm:cxn modelId="{43557528-8CC4-5943-BEBD-6DB5F7B1329B}" type="presParOf" srcId="{8CBE272C-DFEC-3E45-AFDE-7830A02CF440}" destId="{C97009CD-0E4D-F94E-AE4A-6A7E84864B1E}" srcOrd="9" destOrd="0" presId="urn:microsoft.com/office/officeart/2016/7/layout/VerticalDownArrowProcess"/>
    <dgm:cxn modelId="{211D1DEE-D741-644D-A88B-ED70CCEC4D94}" type="presParOf" srcId="{8CBE272C-DFEC-3E45-AFDE-7830A02CF440}" destId="{72B03B82-A775-DD47-94DD-2948BCDE37F9}" srcOrd="10" destOrd="0" presId="urn:microsoft.com/office/officeart/2016/7/layout/VerticalDownArrowProcess"/>
    <dgm:cxn modelId="{FFD34B4B-7907-FA40-84CA-072BD93A33E6}" type="presParOf" srcId="{72B03B82-A775-DD47-94DD-2948BCDE37F9}" destId="{6792E3CC-CC2C-2F42-9E59-6B2599D9ED15}" srcOrd="0" destOrd="0" presId="urn:microsoft.com/office/officeart/2016/7/layout/VerticalDownArrowProcess"/>
    <dgm:cxn modelId="{33179923-14BF-324E-A846-76330B0C833E}" type="presParOf" srcId="{72B03B82-A775-DD47-94DD-2948BCDE37F9}" destId="{772BFCBB-F9A7-754D-A415-B99AFA81DF30}" srcOrd="1" destOrd="0" presId="urn:microsoft.com/office/officeart/2016/7/layout/VerticalDownArrowProcess"/>
    <dgm:cxn modelId="{D04118CA-8C74-3042-85C1-1FFF0A18F950}" type="presParOf" srcId="{72B03B82-A775-DD47-94DD-2948BCDE37F9}" destId="{D5C2C13A-A3EF-644D-B983-85DA242B99E6}" srcOrd="2" destOrd="0" presId="urn:microsoft.com/office/officeart/2016/7/layout/VerticalDownArrow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A5C01C-9CEA-7542-A9DA-F0BCE5A9D71E}">
      <dsp:nvSpPr>
        <dsp:cNvPr id="0" name=""/>
        <dsp:cNvSpPr/>
      </dsp:nvSpPr>
      <dsp:spPr>
        <a:xfrm>
          <a:off x="0" y="4398435"/>
          <a:ext cx="1971377" cy="57729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204" tIns="142240" rIns="140204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Step 6</a:t>
          </a:r>
        </a:p>
      </dsp:txBody>
      <dsp:txXfrm>
        <a:off x="0" y="4398435"/>
        <a:ext cx="1971377" cy="577292"/>
      </dsp:txXfrm>
    </dsp:sp>
    <dsp:sp modelId="{A4DCEA11-1C52-B84D-831C-C6E82835E69F}">
      <dsp:nvSpPr>
        <dsp:cNvPr id="0" name=""/>
        <dsp:cNvSpPr/>
      </dsp:nvSpPr>
      <dsp:spPr>
        <a:xfrm>
          <a:off x="1971377" y="4398435"/>
          <a:ext cx="5914131" cy="577292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967" tIns="139700" rIns="119967" bIns="13970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 dirty="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rPr>
            <a:t>: Evaluate with accuracy, top-5 accuracy.</a:t>
          </a:r>
          <a:endParaRPr lang="en-US" sz="1100" kern="1200"/>
        </a:p>
      </dsp:txBody>
      <dsp:txXfrm>
        <a:off x="1971377" y="4398435"/>
        <a:ext cx="5914131" cy="577292"/>
      </dsp:txXfrm>
    </dsp:sp>
    <dsp:sp modelId="{59612E42-2966-7D4B-8F21-AF4D32219590}">
      <dsp:nvSpPr>
        <dsp:cNvPr id="0" name=""/>
        <dsp:cNvSpPr/>
      </dsp:nvSpPr>
      <dsp:spPr>
        <a:xfrm rot="10800000">
          <a:off x="0" y="3519219"/>
          <a:ext cx="1971377" cy="887875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204" tIns="142240" rIns="140204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Step 5</a:t>
          </a:r>
        </a:p>
      </dsp:txBody>
      <dsp:txXfrm rot="-10800000">
        <a:off x="0" y="3519219"/>
        <a:ext cx="1971377" cy="577119"/>
      </dsp:txXfrm>
    </dsp:sp>
    <dsp:sp modelId="{C2A69F78-D06B-8642-9EF8-2DFE7BC3FE00}">
      <dsp:nvSpPr>
        <dsp:cNvPr id="0" name=""/>
        <dsp:cNvSpPr/>
      </dsp:nvSpPr>
      <dsp:spPr>
        <a:xfrm>
          <a:off x="1971377" y="3519219"/>
          <a:ext cx="5914131" cy="577119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967" tIns="139700" rIns="119967" bIns="13970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 dirty="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rPr>
            <a:t>Train XGBoost (Top-100: 200 trees, Full: 100 trees). </a:t>
          </a:r>
          <a:endParaRPr lang="en-US" sz="1100" kern="1200"/>
        </a:p>
      </dsp:txBody>
      <dsp:txXfrm>
        <a:off x="1971377" y="3519219"/>
        <a:ext cx="5914131" cy="577119"/>
      </dsp:txXfrm>
    </dsp:sp>
    <dsp:sp modelId="{8C01F75D-600F-D849-A747-509E8DF8D7E6}">
      <dsp:nvSpPr>
        <dsp:cNvPr id="0" name=""/>
        <dsp:cNvSpPr/>
      </dsp:nvSpPr>
      <dsp:spPr>
        <a:xfrm rot="10800000">
          <a:off x="0" y="2640003"/>
          <a:ext cx="1971377" cy="887875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204" tIns="142240" rIns="140204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Step 4</a:t>
          </a:r>
        </a:p>
      </dsp:txBody>
      <dsp:txXfrm rot="-10800000">
        <a:off x="0" y="2640003"/>
        <a:ext cx="1971377" cy="577119"/>
      </dsp:txXfrm>
    </dsp:sp>
    <dsp:sp modelId="{CE355F69-3EFD-FC43-B36A-0B710B93612D}">
      <dsp:nvSpPr>
        <dsp:cNvPr id="0" name=""/>
        <dsp:cNvSpPr/>
      </dsp:nvSpPr>
      <dsp:spPr>
        <a:xfrm>
          <a:off x="1971377" y="2640003"/>
          <a:ext cx="5914131" cy="577119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967" tIns="139700" rIns="119967" bIns="13970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 dirty="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rPr>
            <a:t>Test one-hot encoding, shift to k-mers (3–6 bp Top-100, 4–5 bp Full). </a:t>
          </a:r>
          <a:endParaRPr lang="en-US" sz="1100" kern="1200"/>
        </a:p>
      </dsp:txBody>
      <dsp:txXfrm>
        <a:off x="1971377" y="2640003"/>
        <a:ext cx="5914131" cy="577119"/>
      </dsp:txXfrm>
    </dsp:sp>
    <dsp:sp modelId="{176FB10E-67F2-244A-9C51-F1A5D4E7014B}">
      <dsp:nvSpPr>
        <dsp:cNvPr id="0" name=""/>
        <dsp:cNvSpPr/>
      </dsp:nvSpPr>
      <dsp:spPr>
        <a:xfrm rot="10800000">
          <a:off x="0" y="1760787"/>
          <a:ext cx="1971377" cy="887875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204" tIns="142240" rIns="140204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Step 3</a:t>
          </a:r>
        </a:p>
      </dsp:txBody>
      <dsp:txXfrm rot="-10800000">
        <a:off x="0" y="1760787"/>
        <a:ext cx="1971377" cy="577119"/>
      </dsp:txXfrm>
    </dsp:sp>
    <dsp:sp modelId="{B5ADD037-1B52-0741-85DE-261FBD030161}">
      <dsp:nvSpPr>
        <dsp:cNvPr id="0" name=""/>
        <dsp:cNvSpPr/>
      </dsp:nvSpPr>
      <dsp:spPr>
        <a:xfrm>
          <a:off x="1971377" y="1760787"/>
          <a:ext cx="5914131" cy="577119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967" tIns="139700" rIns="119967" bIns="13970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 dirty="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rPr>
            <a:t>Extract 250 bp V4 region (400–650 bp). </a:t>
          </a:r>
          <a:endParaRPr lang="en-US" sz="1100" kern="1200"/>
        </a:p>
      </dsp:txBody>
      <dsp:txXfrm>
        <a:off x="1971377" y="1760787"/>
        <a:ext cx="5914131" cy="577119"/>
      </dsp:txXfrm>
    </dsp:sp>
    <dsp:sp modelId="{65CC2DDA-74B7-1C40-9934-246CA94A0A05}">
      <dsp:nvSpPr>
        <dsp:cNvPr id="0" name=""/>
        <dsp:cNvSpPr/>
      </dsp:nvSpPr>
      <dsp:spPr>
        <a:xfrm rot="10800000">
          <a:off x="0" y="881570"/>
          <a:ext cx="1971377" cy="887875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204" tIns="142240" rIns="140204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Step 2</a:t>
          </a:r>
        </a:p>
      </dsp:txBody>
      <dsp:txXfrm rot="-10800000">
        <a:off x="0" y="881570"/>
        <a:ext cx="1971377" cy="577119"/>
      </dsp:txXfrm>
    </dsp:sp>
    <dsp:sp modelId="{64E655E2-8A0E-AC40-BEC2-54C12707DA08}">
      <dsp:nvSpPr>
        <dsp:cNvPr id="0" name=""/>
        <dsp:cNvSpPr/>
      </dsp:nvSpPr>
      <dsp:spPr>
        <a:xfrm>
          <a:off x="1971377" y="881570"/>
          <a:ext cx="5914131" cy="577119"/>
        </a:xfrm>
        <a:prstGeom prst="rect">
          <a:avLst/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967" tIns="139700" rIns="119967" bIns="13970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 dirty="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rPr>
            <a:t>Filter 1,268 singletons, split 80:20 (15,941 train, 3,986 test). </a:t>
          </a:r>
          <a:endParaRPr lang="en-US" sz="1100" kern="1200"/>
        </a:p>
      </dsp:txBody>
      <dsp:txXfrm>
        <a:off x="1971377" y="881570"/>
        <a:ext cx="5914131" cy="577119"/>
      </dsp:txXfrm>
    </dsp:sp>
    <dsp:sp modelId="{772BFCBB-F9A7-754D-A415-B99AFA81DF30}">
      <dsp:nvSpPr>
        <dsp:cNvPr id="0" name=""/>
        <dsp:cNvSpPr/>
      </dsp:nvSpPr>
      <dsp:spPr>
        <a:xfrm rot="10800000">
          <a:off x="0" y="2354"/>
          <a:ext cx="1971377" cy="887875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204" tIns="142240" rIns="140204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Step 1</a:t>
          </a:r>
        </a:p>
      </dsp:txBody>
      <dsp:txXfrm rot="-10800000">
        <a:off x="0" y="2354"/>
        <a:ext cx="1971377" cy="577119"/>
      </dsp:txXfrm>
    </dsp:sp>
    <dsp:sp modelId="{D5C2C13A-A3EF-644D-B983-85DA242B99E6}">
      <dsp:nvSpPr>
        <dsp:cNvPr id="0" name=""/>
        <dsp:cNvSpPr/>
      </dsp:nvSpPr>
      <dsp:spPr>
        <a:xfrm>
          <a:off x="1971377" y="2354"/>
          <a:ext cx="5914131" cy="577119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967" tIns="139700" rIns="119967" bIns="13970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 dirty="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rPr>
            <a:t>Load 21,195 sequences from RDP Trainset 18.</a:t>
          </a:r>
          <a:endParaRPr lang="en-US" sz="1100" kern="1200"/>
        </a:p>
      </dsp:txBody>
      <dsp:txXfrm>
        <a:off x="1971377" y="2354"/>
        <a:ext cx="5914131" cy="5771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VerticalDownArrowProcess">
  <dgm:title val="Vertical Down Arrow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36"/>
      <dgm:constr type="primFontSz" for="des" forName="parentTextArrow" refType="primFontSz" refFor="des" refForName="parentTextBox" op="equ"/>
      <dgm:constr type="primFontSz" for="des" forName="descendantArrow" val="24"/>
      <dgm:constr type="primFontSz" for="des" forName="descendantArrow" refType="primFontSz" refFor="des" refForName="parentTextArrow" op="lte"/>
      <dgm:constr type="primFontSz" for="des" forName="descendantBox" refType="primFontSz" refFor="des" refForName="parentTextArrow" op="lte"/>
      <dgm:constr type="primFontSz" for="des" forName="descendantBox" refType="primFontSz" refFor="des" refForName="parentTextBox" op="lte"/>
      <dgm:constr type="primFontSz" for="des" forName="descendantArrow" refType="primFontSz" refFor="des" refForName="parentTextBox" op="lte"/>
      <dgm:constr type="primFontSz" for="des" forName="descendantBox" refType="primFontSz" refFor="des" refForName="descendan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Box" refType="w" fact="0.25"/>
              <dgm:constr type="h" for="ch" forName="parentTextBox" refType="h"/>
              <dgm:constr type="t" for="ch" forName="parentTextBox"/>
              <dgm:constr type="w" for="ch" forName="descendantBox" refType="w" fact="0.75"/>
              <dgm:constr type="l" for="ch" forName="descendantBox" refType="w" fact="0.25"/>
              <dgm:constr type="b" for="ch" forName="descendantBox" refType="h"/>
              <dgm:constr type="h" for="ch" forName="descendantBox" refType="h"/>
            </dgm:constrLst>
            <dgm:ruleLst/>
            <dgm:layoutNode name="parentTextBox" styleLbl="alignNode1">
              <dgm:alg type="tx"/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descendantBox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presOf axis="des" ptType="node"/>
              <dgm:ruleLst>
                <dgm:rule type="primFontSz" val="11" fact="NaN" max="NaN"/>
              </dgm:ruleLst>
            </dgm:layoutNod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Arrow" refType="w" fact="0.25"/>
              <dgm:constr type="t" for="ch" forName="parentTextArrow"/>
              <dgm:constr type="h" for="ch" forName="parentTextArrow" refType="h" fact="0.65"/>
              <dgm:constr type="w" for="ch" forName="arrow" refType="w" fact="0.25"/>
              <dgm:constr type="h" for="ch" forName="arrow" refType="h"/>
              <dgm:constr type="l" for="ch" forName="descendantArrow" refType="w" fact="0.25"/>
              <dgm:constr type="w" for="ch" forName="descendantArrow" refType="w" fact="0.75"/>
              <dgm:constr type="b" for="ch" forName="descendantArrow" refType="h" fact="0.65"/>
              <dgm:constr type="h" for="ch" forName="descendantArrow" refType="h" fact="0.65"/>
            </dgm:constrLst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arrow" styleLbl="alignNode1">
              <dgm:alg type="sp"/>
              <dgm:shape xmlns:r="http://schemas.openxmlformats.org/officeDocument/2006/relationships" rot="180" type="upArrowCallout" r:blip="">
                <dgm:adjLst>
                  <dgm:adj idx="1" val="0.05"/>
                  <dgm:adj idx="2" val="0.1"/>
                  <dgm:adj idx="3" val="0.15"/>
                </dgm:adjLst>
              </dgm:shape>
              <dgm:presOf axis="self"/>
              <dgm:constrLst/>
              <dgm:ruleLst/>
            </dgm:layoutNode>
            <dgm:layoutNode name="descendantArrow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ruleLst>
                <dgm:rule type="primFontSz" val="11" fact="NaN" max="NaN"/>
              </dgm:ruleLst>
            </dgm:layoutNod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4782C7-A981-DA49-9F80-7A4E75405182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412654-83C3-6247-B37B-7386861A2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143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DC60DCD-A1EE-D04E-A050-0D41A7407592}"/>
              </a:ext>
            </a:extLst>
          </p:cNvPr>
          <p:cNvSpPr/>
          <p:nvPr userDrawn="1"/>
        </p:nvSpPr>
        <p:spPr>
          <a:xfrm>
            <a:off x="0" y="0"/>
            <a:ext cx="9144000" cy="2743200"/>
          </a:xfrm>
          <a:prstGeom prst="rect">
            <a:avLst/>
          </a:prstGeom>
          <a:solidFill>
            <a:srgbClr val="69B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28DFAC-6C93-D941-AD4C-56B7F38F7E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6236468" y="-171450"/>
            <a:ext cx="3076696" cy="3076696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56F2F19-5F1F-9540-9B80-03841B943248}"/>
              </a:ext>
            </a:extLst>
          </p:cNvPr>
          <p:cNvSpPr/>
          <p:nvPr userDrawn="1"/>
        </p:nvSpPr>
        <p:spPr>
          <a:xfrm>
            <a:off x="0" y="2651760"/>
            <a:ext cx="9144000" cy="91440"/>
          </a:xfrm>
          <a:prstGeom prst="rect">
            <a:avLst/>
          </a:prstGeom>
          <a:solidFill>
            <a:srgbClr val="FFC7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006448-8A20-764C-A113-18261930785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72150" y="6176068"/>
            <a:ext cx="2743200" cy="243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257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233169"/>
            <a:ext cx="78867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2693670"/>
            <a:ext cx="3886200" cy="347672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2693670"/>
            <a:ext cx="3886200" cy="347672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825A77A-971A-3244-890F-3B99F774724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1F4AE9C-67F5-1A41-89B0-DEEE29CEB63B}"/>
              </a:ext>
            </a:extLst>
          </p:cNvPr>
          <p:cNvSpPr/>
          <p:nvPr userDrawn="1"/>
        </p:nvSpPr>
        <p:spPr>
          <a:xfrm>
            <a:off x="0" y="-1"/>
            <a:ext cx="9144000" cy="914401"/>
          </a:xfrm>
          <a:prstGeom prst="rect">
            <a:avLst/>
          </a:prstGeom>
          <a:solidFill>
            <a:srgbClr val="69B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1E368CC-3F6A-894C-9234-DC83E799A195}"/>
              </a:ext>
            </a:extLst>
          </p:cNvPr>
          <p:cNvSpPr/>
          <p:nvPr userDrawn="1"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FFC7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672DBF6-0DAC-E148-9CD9-C668F894CB1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47355" y="322584"/>
            <a:ext cx="667996" cy="269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357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1233169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1233170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992293"/>
            <a:ext cx="2949178" cy="3114503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43BBDD-4F51-5942-AA98-E7E60DD246B8}"/>
              </a:ext>
            </a:extLst>
          </p:cNvPr>
          <p:cNvSpPr/>
          <p:nvPr userDrawn="1"/>
        </p:nvSpPr>
        <p:spPr>
          <a:xfrm>
            <a:off x="0" y="-1"/>
            <a:ext cx="9144000" cy="914401"/>
          </a:xfrm>
          <a:prstGeom prst="rect">
            <a:avLst/>
          </a:prstGeom>
          <a:solidFill>
            <a:srgbClr val="69B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12223B-7DCB-0A48-A51E-8DF64C6AB09A}"/>
              </a:ext>
            </a:extLst>
          </p:cNvPr>
          <p:cNvSpPr/>
          <p:nvPr userDrawn="1"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FFC7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FA19B8AF-179C-6A40-9FCF-C1F83ADFC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825A77A-971A-3244-890F-3B99F774724A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F087DC1-D29E-C342-8A11-CCD0B4FE6B1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47355" y="322584"/>
            <a:ext cx="667996" cy="269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951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2D56338-8C42-5A4C-B15A-5E6D618BF4F2}"/>
              </a:ext>
            </a:extLst>
          </p:cNvPr>
          <p:cNvSpPr/>
          <p:nvPr userDrawn="1"/>
        </p:nvSpPr>
        <p:spPr>
          <a:xfrm>
            <a:off x="0" y="-1"/>
            <a:ext cx="9144000" cy="914401"/>
          </a:xfrm>
          <a:prstGeom prst="rect">
            <a:avLst/>
          </a:prstGeom>
          <a:solidFill>
            <a:srgbClr val="69B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4F877C-2745-294D-A776-CA518D80DE0A}"/>
              </a:ext>
            </a:extLst>
          </p:cNvPr>
          <p:cNvSpPr/>
          <p:nvPr userDrawn="1"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FFC7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E0B38AD8-F3C5-7940-BF85-B96BF38E0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825A77A-971A-3244-890F-3B99F774724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FA62369-8A22-664A-A57A-10CC43BAE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233169"/>
            <a:ext cx="78867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FA4AFD9-2B8B-FE40-A4BC-0A4258AA84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2693670"/>
            <a:ext cx="7886700" cy="3476724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2CD807D-CF7D-A84C-AABB-8EB38292CA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47355" y="322584"/>
            <a:ext cx="667996" cy="269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242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A77A-971A-3244-890F-3B99F774724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95645F-D1FD-AB49-94B6-E1A0A46E6E38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9B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FC020F-74CE-744F-B417-D101F5F860F7}"/>
              </a:ext>
            </a:extLst>
          </p:cNvPr>
          <p:cNvSpPr/>
          <p:nvPr userDrawn="1"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FFC7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879FC38-93A5-254A-9580-ADF945DCA1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47355" y="322584"/>
            <a:ext cx="667996" cy="26923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8A57B61-6E93-3E4B-B366-DD651B8AFFD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-685800" y="-685800"/>
            <a:ext cx="6175094" cy="6175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25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25A77A-971A-3244-890F-3B99F7747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925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2" r:id="rId2"/>
    <p:sldLayoutId id="2147483667" r:id="rId3"/>
    <p:sldLayoutId id="2147483660" r:id="rId4"/>
    <p:sldLayoutId id="2147483665" r:id="rId5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F6E06235-B4A9-1445-B4B0-799FEB40F49A}"/>
              </a:ext>
            </a:extLst>
          </p:cNvPr>
          <p:cNvSpPr txBox="1">
            <a:spLocks noChangeArrowheads="1"/>
          </p:cNvSpPr>
          <p:nvPr/>
        </p:nvSpPr>
        <p:spPr>
          <a:xfrm>
            <a:off x="756212" y="877860"/>
            <a:ext cx="6454213" cy="17034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b="1" dirty="0" err="1">
                <a:solidFill>
                  <a:srgbClr val="FFFFFF"/>
                </a:solidFill>
                <a:effectLst/>
                <a:latin typeface="Calibri Light" panose="020F0302020204030204" pitchFamily="34" charset="0"/>
              </a:rPr>
              <a:t>Categorising</a:t>
            </a:r>
            <a:r>
              <a:rPr lang="en-US" sz="4400" b="1" dirty="0">
                <a:solidFill>
                  <a:srgbClr val="FFFFFF"/>
                </a:solidFill>
                <a:effectLst/>
                <a:latin typeface="Calibri Light" panose="020F0302020204030204" pitchFamily="34" charset="0"/>
              </a:rPr>
              <a:t> Bacterial Genera Based on 16S rRNA Sequences Utilizing K-</a:t>
            </a:r>
            <a:r>
              <a:rPr lang="en-US" sz="4400" b="1" dirty="0" err="1">
                <a:solidFill>
                  <a:srgbClr val="FFFFFF"/>
                </a:solidFill>
                <a:effectLst/>
                <a:latin typeface="Calibri Light" panose="020F0302020204030204" pitchFamily="34" charset="0"/>
              </a:rPr>
              <a:t>mer</a:t>
            </a:r>
            <a:r>
              <a:rPr lang="en-US" sz="4400" b="1" dirty="0">
                <a:solidFill>
                  <a:srgbClr val="FFFFFF"/>
                </a:solidFill>
                <a:effectLst/>
                <a:latin typeface="Calibri Light" panose="020F0302020204030204" pitchFamily="34" charset="0"/>
              </a:rPr>
              <a:t> Features and </a:t>
            </a:r>
            <a:r>
              <a:rPr lang="en-US" sz="4400" b="1" dirty="0" err="1">
                <a:solidFill>
                  <a:srgbClr val="FFFFFF"/>
                </a:solidFill>
                <a:effectLst/>
                <a:latin typeface="Calibri Light" panose="020F0302020204030204" pitchFamily="34" charset="0"/>
              </a:rPr>
              <a:t>XGBoost</a:t>
            </a:r>
            <a:r>
              <a:rPr lang="en-US" sz="4400" b="1" dirty="0">
                <a:solidFill>
                  <a:srgbClr val="FFFFFF"/>
                </a:solidFill>
                <a:effectLst/>
                <a:latin typeface="Calibri Light" panose="020F0302020204030204" pitchFamily="34" charset="0"/>
              </a:rPr>
              <a:t> with the RDP Trainset 18 Dataset</a:t>
            </a:r>
            <a:endParaRPr lang="en-US" altLang="en-US" b="1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614B48C-432E-4046-9F84-C6EB95379FC1}"/>
              </a:ext>
            </a:extLst>
          </p:cNvPr>
          <p:cNvSpPr txBox="1">
            <a:spLocks noChangeArrowheads="1"/>
          </p:cNvSpPr>
          <p:nvPr/>
        </p:nvSpPr>
        <p:spPr>
          <a:xfrm>
            <a:off x="756214" y="3324755"/>
            <a:ext cx="6623825" cy="1972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163CFA-8E03-DC47-AB89-020E49AEA157}"/>
              </a:ext>
            </a:extLst>
          </p:cNvPr>
          <p:cNvSpPr txBox="1"/>
          <p:nvPr/>
        </p:nvSpPr>
        <p:spPr>
          <a:xfrm>
            <a:off x="661944" y="5771650"/>
            <a:ext cx="236635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By: Gregory V. Luna</a:t>
            </a:r>
          </a:p>
          <a:p>
            <a:r>
              <a:rPr lang="en-US" sz="1400" dirty="0"/>
              <a:t>Date: 03/30/2025</a:t>
            </a:r>
          </a:p>
          <a:p>
            <a:r>
              <a:rPr lang="it-IT" sz="1400" dirty="0"/>
              <a:t>CS_697_001_BK_Spring 2025 </a:t>
            </a:r>
            <a:endParaRPr lang="en-US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E3DBF8-CE16-4C56-BAC1-A630B59E94C4}"/>
              </a:ext>
            </a:extLst>
          </p:cNvPr>
          <p:cNvSpPr txBox="1"/>
          <p:nvPr/>
        </p:nvSpPr>
        <p:spPr>
          <a:xfrm>
            <a:off x="2178790" y="3588670"/>
            <a:ext cx="47864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Picture representing </a:t>
            </a:r>
            <a:r>
              <a:rPr lang="en-US" sz="3600" dirty="0" err="1"/>
              <a:t>th</a:t>
            </a:r>
            <a:r>
              <a:rPr lang="en-US" sz="3600" dirty="0"/>
              <a:t> scope of your project</a:t>
            </a:r>
          </a:p>
        </p:txBody>
      </p:sp>
      <p:pic>
        <p:nvPicPr>
          <p:cNvPr id="2" name="Picture 1" descr="A diagram of a dna sequence&#10;&#10;AI-generated content may be incorrect.">
            <a:extLst>
              <a:ext uri="{FF2B5EF4-FFF2-40B4-BE49-F238E27FC236}">
                <a16:creationId xmlns:a16="http://schemas.microsoft.com/office/drawing/2014/main" id="{323D6B00-BDE2-638D-81C0-8F9A46BBA7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630" y="2829124"/>
            <a:ext cx="4739779" cy="2719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5901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1BCF1-984E-8948-950A-5CD9598359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122947"/>
            <a:ext cx="7886700" cy="2972803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This presentation covers the following:  Introduction to 16S rRNA classification; Applications in microbiome research; Literature review on ML and genomics; Key findings from prior studies; Algorithm and approach in 7 steps; Understanding the functions; Obtained results; Conclusion and future work</a:t>
            </a:r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9684B8B-43FC-324A-B112-F515B802157A}"/>
              </a:ext>
            </a:extLst>
          </p:cNvPr>
          <p:cNvSpPr txBox="1">
            <a:spLocks noChangeArrowheads="1"/>
          </p:cNvSpPr>
          <p:nvPr/>
        </p:nvSpPr>
        <p:spPr>
          <a:xfrm>
            <a:off x="628650" y="30063"/>
            <a:ext cx="6536079" cy="8708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800" b="1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Outlines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2C8CBDB-C241-4C9B-9B12-C17CD5A47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A77A-971A-3244-890F-3B99F774724A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59189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1BCF1-984E-8948-950A-5CD9598359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122948"/>
            <a:ext cx="7886700" cy="315377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Microbial communities drive ecological and health processes. The 16S rRNA gene is key for bacterial taxonomy [1]. RDP Trainset 18 dataset: 21,195 sequences, 1,735 genera post-filtering. Traditional tools like BLAST struggle with scale [2]. Machine learning offers rapid, alignment-free classification. Goal: Develop a scalable ML classifier for genera using k-</a:t>
            </a:r>
            <a:r>
              <a:rPr lang="en-US" sz="2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mers</a:t>
            </a:r>
            <a:r>
              <a:rPr lang="en-US" sz="2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and </a:t>
            </a:r>
            <a:r>
              <a:rPr lang="en-US" sz="2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XGBoost</a:t>
            </a:r>
            <a:r>
              <a:rPr lang="en-US" sz="2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9684B8B-43FC-324A-B112-F515B802157A}"/>
              </a:ext>
            </a:extLst>
          </p:cNvPr>
          <p:cNvSpPr txBox="1">
            <a:spLocks noChangeArrowheads="1"/>
          </p:cNvSpPr>
          <p:nvPr/>
        </p:nvSpPr>
        <p:spPr>
          <a:xfrm>
            <a:off x="628650" y="30063"/>
            <a:ext cx="6536079" cy="8708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800" b="1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8608BD0-994E-4EA0-A0B0-4FC8DE301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A77A-971A-3244-890F-3B99F774724A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6" name="Picture 5" descr="A diagram of a dna sequence">
            <a:extLst>
              <a:ext uri="{FF2B5EF4-FFF2-40B4-BE49-F238E27FC236}">
                <a16:creationId xmlns:a16="http://schemas.microsoft.com/office/drawing/2014/main" id="{02CA3228-B3E7-E9A8-EB31-F2972ADA1D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143374"/>
            <a:ext cx="6696075" cy="243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884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EEE83A-6C8C-7541-9538-BD4C0FC9B8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195753"/>
            <a:ext cx="7886700" cy="2795221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2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Accurate genus classification enhances microbiome studies. Enables microbial ecology profiling (e.g., soil, gut). Supports pathogen detection in clinical settings. Aids personalized medicine via microbial signatures. Scalable tools improve high-throughput sequencing analysis. Advances evolutionary biology research.</a:t>
            </a:r>
            <a:br>
              <a:rPr lang="en-US" sz="2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3C476EA-0E49-6541-BE5E-4D9CDA48CDD2}"/>
              </a:ext>
            </a:extLst>
          </p:cNvPr>
          <p:cNvSpPr txBox="1">
            <a:spLocks noChangeArrowheads="1"/>
          </p:cNvSpPr>
          <p:nvPr/>
        </p:nvSpPr>
        <p:spPr>
          <a:xfrm>
            <a:off x="628650" y="30063"/>
            <a:ext cx="6536079" cy="8708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800" b="1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APPLICATION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CF13B53-3C52-41FD-87EB-9108EC992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A77A-971A-3244-890F-3B99F774724A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6" name="Picture 5" descr="A close-up of a pattern">
            <a:extLst>
              <a:ext uri="{FF2B5EF4-FFF2-40B4-BE49-F238E27FC236}">
                <a16:creationId xmlns:a16="http://schemas.microsoft.com/office/drawing/2014/main" id="{A9A604F4-214E-0C1D-0C89-CC8D96DA04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075" y="3667124"/>
            <a:ext cx="7181850" cy="2795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6770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624C1200-80BB-1D4D-8DF7-28BFE7F023B4}"/>
              </a:ext>
            </a:extLst>
          </p:cNvPr>
          <p:cNvSpPr txBox="1">
            <a:spLocks noChangeArrowheads="1"/>
          </p:cNvSpPr>
          <p:nvPr/>
        </p:nvSpPr>
        <p:spPr>
          <a:xfrm>
            <a:off x="628650" y="30063"/>
            <a:ext cx="6536079" cy="8708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800" b="1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LITERATURE REVIEW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C3C349B-4585-3D43-8B4A-1B616575FF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8650" y="1371601"/>
            <a:ext cx="7782639" cy="3495674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Woese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and Fox (1977) established 16S rRNA as a taxonomic marker [1]. Yang et al. (2020) reviewed ML challenges in DNA mining [2]. Moeckel et al. (2024) highlighted k-</a:t>
            </a:r>
            <a:r>
              <a:rPr lang="en-US" sz="24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mers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’ genomic utility [6]. Hamed et al. (2023) achieved 96.3% accuracy with SVM [3]. Caporaso et al. (2010) developed QIIME for 16S analysis [4]. Chen and </a:t>
            </a:r>
            <a:r>
              <a:rPr lang="en-US" sz="24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Guestrin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(2016) introduced </a:t>
            </a:r>
            <a:r>
              <a:rPr lang="en-US" sz="24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XGBoost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for scalability [9].</a:t>
            </a:r>
            <a:endParaRPr lang="en-US" sz="24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D885912-8FC9-4054-A0FC-DF8FEDA22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A77A-971A-3244-890F-3B99F774724A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0750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50743A-09CD-414F-8C62-1F7818E59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A77A-971A-3244-890F-3B99F774724A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1A61DF-FFA6-4A49-9806-53C995A226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171576"/>
            <a:ext cx="7886700" cy="2819399"/>
          </a:xfrm>
        </p:spPr>
        <p:txBody>
          <a:bodyPr/>
          <a:lstStyle/>
          <a:p>
            <a:r>
              <a:rPr lang="en-US" sz="2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Traditional methods lack scalability [2]. One-hot encoding loses sequence context [5]. K-</a:t>
            </a:r>
            <a:r>
              <a:rPr lang="en-US" sz="2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mers</a:t>
            </a:r>
            <a:r>
              <a:rPr lang="en-US" sz="2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excel in pattern recognition [6]. SVM achieves high binary accuracy (96.3%) [3]. </a:t>
            </a:r>
            <a:r>
              <a:rPr lang="en-US" sz="2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XGBoost</a:t>
            </a:r>
            <a:r>
              <a:rPr lang="en-US" sz="2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handles multi-class, high-dimensional data [9]. Gaps remain in multi-class 16S rRNA classification.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D9098E-5BEC-EE4C-91E9-41A1CB5F73B3}"/>
              </a:ext>
            </a:extLst>
          </p:cNvPr>
          <p:cNvSpPr txBox="1"/>
          <p:nvPr/>
        </p:nvSpPr>
        <p:spPr>
          <a:xfrm>
            <a:off x="3200401" y="2971800"/>
            <a:ext cx="184731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013" dirty="0"/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5A592D5E-3BD8-EC4C-BD33-D0A1D81B4F74}"/>
              </a:ext>
            </a:extLst>
          </p:cNvPr>
          <p:cNvSpPr txBox="1">
            <a:spLocks noChangeArrowheads="1"/>
          </p:cNvSpPr>
          <p:nvPr/>
        </p:nvSpPr>
        <p:spPr>
          <a:xfrm>
            <a:off x="628650" y="30063"/>
            <a:ext cx="6536079" cy="8708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800" b="1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LITERATURE REVIEW RESULTS</a:t>
            </a:r>
          </a:p>
        </p:txBody>
      </p:sp>
    </p:spTree>
    <p:extLst>
      <p:ext uri="{BB962C8B-B14F-4D97-AF65-F5344CB8AC3E}">
        <p14:creationId xmlns:p14="http://schemas.microsoft.com/office/powerpoint/2010/main" val="8996976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24552A-8DC8-A441-9629-4D1DDAC445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0" y="1128713"/>
            <a:ext cx="7942659" cy="497808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C7F2A8B2-78A4-D64F-81E1-A72FF0360AB0}"/>
              </a:ext>
            </a:extLst>
          </p:cNvPr>
          <p:cNvSpPr txBox="1">
            <a:spLocks noChangeArrowheads="1"/>
          </p:cNvSpPr>
          <p:nvPr/>
        </p:nvSpPr>
        <p:spPr>
          <a:xfrm>
            <a:off x="628650" y="30063"/>
            <a:ext cx="6536079" cy="8708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8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ALGORITHM/APPROACH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2CE5AC78-21EE-1B49-86B8-82403625B2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9320571"/>
              </p:ext>
            </p:extLst>
          </p:nvPr>
        </p:nvGraphicFramePr>
        <p:xfrm>
          <a:off x="628651" y="1128713"/>
          <a:ext cx="7885509" cy="49780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7BDB155-6487-4447-8843-7619D69DD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A77A-971A-3244-890F-3B99F774724A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00203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897B39-8EEF-D54A-9ABB-EDB671323E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271589"/>
            <a:ext cx="7871222" cy="1528761"/>
          </a:xfrm>
        </p:spPr>
        <p:txBody>
          <a:bodyPr/>
          <a:lstStyle/>
          <a:p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K-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mers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count subsequences (e.g., “ATG”), preserving context [6].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XGBoost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builds decision trees, splits on k-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mer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counts [9]. Gradient boosting minimizes multi-class log loss. Class weights balance rare genera in Full Model. Top-100 uses 3–6 bp k-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mers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(10,036 features). Full Model uses 4–5 bp k-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mers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(10,986 features).</a:t>
            </a:r>
            <a:endParaRPr lang="en-US" sz="1800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AAF9F8F-9877-1243-BF92-74D8C3F1781F}"/>
              </a:ext>
            </a:extLst>
          </p:cNvPr>
          <p:cNvSpPr txBox="1">
            <a:spLocks noChangeArrowheads="1"/>
          </p:cNvSpPr>
          <p:nvPr/>
        </p:nvSpPr>
        <p:spPr>
          <a:xfrm>
            <a:off x="628650" y="30063"/>
            <a:ext cx="6536079" cy="8708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800" b="1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UNDERSTANDING THE FUNCTIONS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AB81F8-0768-4973-B1B1-77582F122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A77A-971A-3244-890F-3B99F774724A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6" name="Picture 5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4E06C10F-4823-D02D-90D1-F3A5BFA74D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6501" y="2689858"/>
            <a:ext cx="4257674" cy="2577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9798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ED9098E-5BEC-EE4C-91E9-41A1CB5F73B3}"/>
              </a:ext>
            </a:extLst>
          </p:cNvPr>
          <p:cNvSpPr txBox="1"/>
          <p:nvPr/>
        </p:nvSpPr>
        <p:spPr>
          <a:xfrm>
            <a:off x="3200401" y="2971800"/>
            <a:ext cx="184731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013" dirty="0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66207839-FAB5-C647-B752-1E110BE99279}"/>
              </a:ext>
            </a:extLst>
          </p:cNvPr>
          <p:cNvSpPr txBox="1">
            <a:spLocks noChangeArrowheads="1"/>
          </p:cNvSpPr>
          <p:nvPr/>
        </p:nvSpPr>
        <p:spPr>
          <a:xfrm>
            <a:off x="628650" y="30063"/>
            <a:ext cx="6536079" cy="8708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800" b="1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OBTAINED RESULTS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8437EB-2167-4AA1-BF66-4E9103D7B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A77A-971A-3244-890F-3B99F774724A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464934-3DAE-4467-A3E5-D53DDB27F6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05927"/>
            <a:ext cx="7886700" cy="1414082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One-hot encoding: RF 0.74%, SVM/CNN 10.83% accuracy [5].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XGBoost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Top-100: 97.56% accuracy, 99.79% top-5 (1,908 test samples).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XGBoost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Full: 82.84% accuracy, 91.57% top-5 (3,940 test samples). 5-fold CV: Top-100 94.48% (±0.58%). Outperforms Hamed et al.’s 96.3% binary [3]. K-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mers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drive multi-class success.</a:t>
            </a:r>
            <a:endParaRPr lang="en-US" dirty="0"/>
          </a:p>
        </p:txBody>
      </p:sp>
      <p:sp>
        <p:nvSpPr>
          <p:cNvPr id="3" name="AutoShape 2" descr="Architecture and inner flow of XGBoost model for boosting the performance of soil carbon flux prediction model">
            <a:extLst>
              <a:ext uri="{FF2B5EF4-FFF2-40B4-BE49-F238E27FC236}">
                <a16:creationId xmlns:a16="http://schemas.microsoft.com/office/drawing/2014/main" id="{60558CA9-B4C9-E916-1D81-74C34F886CB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599"/>
            <a:ext cx="304800" cy="183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 descr="A diagram of a diagram">
            <a:extLst>
              <a:ext uri="{FF2B5EF4-FFF2-40B4-BE49-F238E27FC236}">
                <a16:creationId xmlns:a16="http://schemas.microsoft.com/office/drawing/2014/main" id="{FB547C0F-9C0F-914C-3909-A724CB78F9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1351" y="3220009"/>
            <a:ext cx="3095624" cy="3376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9423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81C75F-C6A1-F249-8911-735ED4C2D2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143000"/>
            <a:ext cx="7886700" cy="28765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K-</a:t>
            </a:r>
            <a:r>
              <a:rPr lang="en-US" sz="2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mers</a:t>
            </a:r>
            <a:r>
              <a:rPr lang="en-US" sz="2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and </a:t>
            </a:r>
            <a:r>
              <a:rPr lang="en-US" sz="2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XGBoost</a:t>
            </a:r>
            <a:r>
              <a:rPr lang="en-US" sz="2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achieve &gt;97% accuracy in genus classification. Top-100 model excels for efficiency, Full Model scales to 1,712 genera. Future: Test 6–7 bp k-</a:t>
            </a:r>
            <a:r>
              <a:rPr lang="en-US" sz="2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mers</a:t>
            </a:r>
            <a:r>
              <a:rPr lang="en-US" sz="2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add precision/recall metrics. Map k-</a:t>
            </a:r>
            <a:r>
              <a:rPr lang="en-US" sz="2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mers</a:t>
            </a:r>
            <a:r>
              <a:rPr lang="en-US" sz="2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to taxonomic motifs [7]. Scale to all 1,735 genera. Enhance microbiome research applications.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A7DF44-3DAB-B743-93F0-C6ABA765A070}"/>
              </a:ext>
            </a:extLst>
          </p:cNvPr>
          <p:cNvSpPr/>
          <p:nvPr/>
        </p:nvSpPr>
        <p:spPr>
          <a:xfrm>
            <a:off x="4094144" y="3278959"/>
            <a:ext cx="955711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Conclusion</a:t>
            </a:r>
            <a:endParaRPr lang="en-US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41B7E36A-E709-2A49-87DB-0514E99099BA}"/>
              </a:ext>
            </a:extLst>
          </p:cNvPr>
          <p:cNvSpPr txBox="1">
            <a:spLocks noChangeArrowheads="1"/>
          </p:cNvSpPr>
          <p:nvPr/>
        </p:nvSpPr>
        <p:spPr>
          <a:xfrm>
            <a:off x="628650" y="30063"/>
            <a:ext cx="6536079" cy="8708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800" b="1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CONCLUSION &amp; FUTURE WORK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E9D95AC-7C9F-4104-805C-0291CA50E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A77A-971A-3244-890F-3B99F774724A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07551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4DDEF-9499-0848-9FF9-781097E13E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08295"/>
            <a:ext cx="7886700" cy="4025705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[1] C. R.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Woese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and G. E. Fox, Proc. Nat. Acad. Sci. USA, vol. 74, no. 11, pp. 5088–5090, 1977. [2] A. Yang et al., Front.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Bioeng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Biotechnol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., vol. 8, p. 1032, 2020. </a:t>
            </a:r>
          </a:p>
          <a:p>
            <a:pPr marL="0" indent="0">
              <a:buNone/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[3] B. A. Hamed et al., J. Big Data, vol. 10, no. 1, p. 124, 2023. [4] J. G. Caporaso et al., Nat. Methods, vol. 7, no. 5, pp. 335–336, 2010. [5] A. Yang et al., Front.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Bioeng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Biotechnol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., vol. 8, p. 1032, 2020. </a:t>
            </a:r>
          </a:p>
          <a:p>
            <a:pPr marL="0" indent="0">
              <a:buNone/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[6] C. Moeckel et al.,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Comput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Struct.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Biotechnol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J., vol. 23, pp. 2289–2303, 2024. </a:t>
            </a:r>
          </a:p>
          <a:p>
            <a:pPr marL="0" indent="0">
              <a:buNone/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[7] C. R.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Woese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et al., Proc. Nat. Acad. Sci. USA, vol. 87, no. 12, pp. 4576–4579, 1990. [8] S. D. Jackman et al., Genome Res., vol. 27, no. 5, pp. 768–777, 2017. </a:t>
            </a:r>
          </a:p>
          <a:p>
            <a:pPr marL="0" indent="0">
              <a:buNone/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[9] T. Chen and C.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Guestrin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Proc. 22nd ACM SIGKDD Int. Conf.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Knowl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Discov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Data Mining, pp. 785–794, 2016. </a:t>
            </a:r>
          </a:p>
          <a:p>
            <a:pPr marL="0" indent="0">
              <a:buNone/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[10] R. C. Edgar, Bioinformatics, vol. 34, no. 13, pp. 2247–2249, 2018.</a:t>
            </a:r>
            <a:endParaRPr 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EA7237B-41C8-C945-8A8B-F98542EAD940}"/>
              </a:ext>
            </a:extLst>
          </p:cNvPr>
          <p:cNvSpPr txBox="1">
            <a:spLocks noChangeArrowheads="1"/>
          </p:cNvSpPr>
          <p:nvPr/>
        </p:nvSpPr>
        <p:spPr>
          <a:xfrm>
            <a:off x="628650" y="30063"/>
            <a:ext cx="6536079" cy="8708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800" b="1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REFERENCES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A708A80-5276-43A4-AB04-3C04926F5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A77A-971A-3244-890F-3B99F774724A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1564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AA93304-03D7-493E-92D6-38FC853DA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A77A-971A-3244-890F-3B99F774724A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DCFDDDB-0F2B-4CC6-8C8A-5C6670B6DE9E}"/>
              </a:ext>
            </a:extLst>
          </p:cNvPr>
          <p:cNvSpPr txBox="1">
            <a:spLocks/>
          </p:cNvSpPr>
          <p:nvPr/>
        </p:nvSpPr>
        <p:spPr>
          <a:xfrm>
            <a:off x="5688672" y="2552995"/>
            <a:ext cx="2911715" cy="16038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Questions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5997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774</TotalTime>
  <Words>945</Words>
  <Application>Microsoft Office PowerPoint</Application>
  <PresentationFormat>On-screen Show (4:3)</PresentationFormat>
  <Paragraphs>54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Microsoft Office User</dc:creator>
  <cp:lastModifiedBy>Gregory Luna</cp:lastModifiedBy>
  <cp:revision>55</cp:revision>
  <dcterms:created xsi:type="dcterms:W3CDTF">2020-12-17T21:21:33Z</dcterms:created>
  <dcterms:modified xsi:type="dcterms:W3CDTF">2025-05-02T01:48:25Z</dcterms:modified>
</cp:coreProperties>
</file>